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4" r:id="rId14"/>
    <p:sldMasterId id="2147483816" r:id="rId15"/>
    <p:sldMasterId id="2147483828" r:id="rId16"/>
    <p:sldMasterId id="2147483840" r:id="rId17"/>
    <p:sldMasterId id="2147483852" r:id="rId18"/>
    <p:sldMasterId id="2147483864" r:id="rId19"/>
  </p:sldMasterIdLst>
  <p:notesMasterIdLst>
    <p:notesMasterId r:id="rId41"/>
  </p:notesMasterIdLst>
  <p:handoutMasterIdLst>
    <p:handoutMasterId r:id="rId42"/>
  </p:handoutMasterIdLst>
  <p:sldIdLst>
    <p:sldId id="256" r:id="rId20"/>
    <p:sldId id="257" r:id="rId21"/>
    <p:sldId id="273" r:id="rId22"/>
    <p:sldId id="274" r:id="rId23"/>
    <p:sldId id="280" r:id="rId24"/>
    <p:sldId id="275" r:id="rId25"/>
    <p:sldId id="276" r:id="rId26"/>
    <p:sldId id="277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9" r:id="rId37"/>
    <p:sldId id="288" r:id="rId38"/>
    <p:sldId id="290" r:id="rId39"/>
    <p:sldId id="271" r:id="rId40"/>
  </p:sldIdLst>
  <p:sldSz cx="12192000" cy="6858000"/>
  <p:notesSz cx="6858000" cy="9144000"/>
  <p:embeddedFontLst>
    <p:embeddedFont>
      <p:font typeface="Aclonica" panose="020B0604020202020204" charset="0"/>
      <p:regular r:id="rId43"/>
    </p:embeddedFont>
    <p:embeddedFont>
      <p:font typeface="Manrope SemiBold" panose="020B0604020202020204" charset="0"/>
      <p:bold r:id="rId44"/>
    </p:embeddedFont>
    <p:embeddedFont>
      <p:font typeface="Mongolian Baiti" panose="03000500000000000000" pitchFamily="66" charset="0"/>
      <p:regular r:id="rId45"/>
    </p:embeddedFont>
  </p:embeddedFontLst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pos="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B000"/>
    <a:srgbClr val="F37857"/>
    <a:srgbClr val="FDF3F1"/>
    <a:srgbClr val="FEF9F8"/>
    <a:srgbClr val="FFFCF3"/>
    <a:srgbClr val="FDC467"/>
    <a:srgbClr val="FCB84A"/>
    <a:srgbClr val="FCAF30"/>
    <a:srgbClr val="FFD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2196"/>
        <p:guide pos="3838"/>
        <p:guide pos="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slide" Target="slides/slide20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0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slide" Target="slides/slide21.xml"/><Relationship Id="rId45" Type="http://schemas.openxmlformats.org/officeDocument/2006/relationships/font" Target="fonts/font3.fntdata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4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slide" Target="slides/slide19.xml"/><Relationship Id="rId46" Type="http://schemas.openxmlformats.org/officeDocument/2006/relationships/tags" Target="tags/tag1.xml"/><Relationship Id="rId20" Type="http://schemas.openxmlformats.org/officeDocument/2006/relationships/slide" Target="slides/slide1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  <a:t>2026/6/19</a:t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  <a:t>‹#›</a:t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69FBD87C-EF9D-4D2D-90CC-D466EC55A73F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2BBB4B1B-F8EC-4F78-8100-A0CB14361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B4B1B-F8EC-4F78-8100-A0CB1436103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6.sv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6.sv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10F03937-146D-4941-AF6C-02D5D470E6B9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E3E9650C-B0D6-44AA-8D5B-DE619B24268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F378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>
                <a:off x="165100" y="203200"/>
                <a:ext cx="11861800" cy="6451600"/>
              </a:xfrm>
              <a:prstGeom prst="roundRect">
                <a:avLst>
                  <a:gd name="adj" fmla="val 17201"/>
                </a:avLst>
              </a:prstGeom>
              <a:solidFill>
                <a:srgbClr val="FDF3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65100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65100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726106" y="203200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726106" y="6332613"/>
                <a:ext cx="322187" cy="322187"/>
              </a:xfrm>
              <a:prstGeom prst="ellipse">
                <a:avLst/>
              </a:prstGeom>
              <a:solidFill>
                <a:srgbClr val="F8F6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Manrope SemiBold" charset="0"/>
                  <a:cs typeface="Manrope SemiBold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302552" y="441174"/>
              <a:ext cx="5559046" cy="688003"/>
              <a:chOff x="3302552" y="441174"/>
              <a:chExt cx="5559046" cy="688003"/>
            </a:xfrm>
          </p:grpSpPr>
          <p:pic>
            <p:nvPicPr>
              <p:cNvPr id="10" name="图形 9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302552" y="441174"/>
                <a:ext cx="677196" cy="688003"/>
              </a:xfrm>
              <a:prstGeom prst="rect">
                <a:avLst/>
              </a:prstGeom>
            </p:spPr>
          </p:pic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8184402" y="441174"/>
                <a:ext cx="677196" cy="688003"/>
              </a:xfrm>
              <a:prstGeom prst="rect">
                <a:avLst/>
              </a:prstGeom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clonica" panose="02060503000000020004" pitchFamily="18" charset="0"/>
          <a:ea typeface="Aclonica" panose="02060503000000020004" pitchFamily="18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84860" y="1456690"/>
            <a:ext cx="11028680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zh-CN" sz="4400" dirty="0">
                <a:solidFill>
                  <a:srgbClr val="F37857"/>
                </a:solidFill>
                <a:latin typeface="Aclonica" panose="02060503000000020004" pitchFamily="18" charset="0"/>
                <a:cs typeface="Manrope SemiBold" charset="0"/>
              </a:rPr>
              <a:t>Swiggy Style Food Delivery Website</a:t>
            </a:r>
            <a:r>
              <a:rPr lang="en-IN" altLang="zh-CN" sz="6600" dirty="0">
                <a:solidFill>
                  <a:srgbClr val="F37857"/>
                </a:solidFill>
                <a:latin typeface="Aclonica" panose="02060503000000020004" pitchFamily="18" charset="0"/>
                <a:cs typeface="Manrope SemiBold" charset="0"/>
              </a:rPr>
              <a:t> </a:t>
            </a:r>
          </a:p>
        </p:txBody>
      </p:sp>
      <p:sp>
        <p:nvSpPr>
          <p:cNvPr id="32" name="任意多边形: 形状 31"/>
          <p:cNvSpPr/>
          <p:nvPr/>
        </p:nvSpPr>
        <p:spPr>
          <a:xfrm>
            <a:off x="651026" y="3629168"/>
            <a:ext cx="2558340" cy="299009"/>
          </a:xfrm>
          <a:custGeom>
            <a:avLst/>
            <a:gdLst>
              <a:gd name="connsiteX0" fmla="*/ 0 w 1597572"/>
              <a:gd name="connsiteY0" fmla="*/ 183151 h 288410"/>
              <a:gd name="connsiteX1" fmla="*/ 294289 w 1597572"/>
              <a:gd name="connsiteY1" fmla="*/ 46516 h 288410"/>
              <a:gd name="connsiteX2" fmla="*/ 935421 w 1597572"/>
              <a:gd name="connsiteY2" fmla="*/ 288254 h 288410"/>
              <a:gd name="connsiteX3" fmla="*/ 1103586 w 1597572"/>
              <a:gd name="connsiteY3" fmla="*/ 4475 h 288410"/>
              <a:gd name="connsiteX4" fmla="*/ 1597572 w 1597572"/>
              <a:gd name="connsiteY4" fmla="*/ 141109 h 28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572" h="288410">
                <a:moveTo>
                  <a:pt x="0" y="183151"/>
                </a:moveTo>
                <a:cubicBezTo>
                  <a:pt x="69193" y="106075"/>
                  <a:pt x="138386" y="28999"/>
                  <a:pt x="294289" y="46516"/>
                </a:cubicBezTo>
                <a:cubicBezTo>
                  <a:pt x="450192" y="64033"/>
                  <a:pt x="800538" y="295261"/>
                  <a:pt x="935421" y="288254"/>
                </a:cubicBezTo>
                <a:cubicBezTo>
                  <a:pt x="1070304" y="281247"/>
                  <a:pt x="993228" y="28999"/>
                  <a:pt x="1103586" y="4475"/>
                </a:cubicBezTo>
                <a:cubicBezTo>
                  <a:pt x="1213944" y="-20049"/>
                  <a:pt x="1405758" y="60530"/>
                  <a:pt x="1597572" y="141109"/>
                </a:cubicBezTo>
              </a:path>
            </a:pathLst>
          </a:custGeom>
          <a:noFill/>
          <a:ln w="19050">
            <a:solidFill>
              <a:srgbClr val="F9B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09290" y="3538220"/>
            <a:ext cx="76206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zh-CN" sz="2000" dirty="0">
                <a:solidFill>
                  <a:srgbClr val="F9B000"/>
                </a:solidFill>
                <a:latin typeface="Aclonica" panose="02060503000000020004" pitchFamily="18" charset="0"/>
                <a:cs typeface="Manrope SemiBold" charset="0"/>
              </a:rPr>
              <a:t>website Built Using HTML,CSS,Bootstrap,JavaScript</a:t>
            </a:r>
          </a:p>
        </p:txBody>
      </p:sp>
      <p:sp>
        <p:nvSpPr>
          <p:cNvPr id="35" name="矩形: 圆角 34"/>
          <p:cNvSpPr/>
          <p:nvPr/>
        </p:nvSpPr>
        <p:spPr>
          <a:xfrm>
            <a:off x="1783080" y="4818380"/>
            <a:ext cx="3400425" cy="585470"/>
          </a:xfrm>
          <a:prstGeom prst="roundRect">
            <a:avLst>
              <a:gd name="adj" fmla="val 50000"/>
            </a:avLst>
          </a:prstGeom>
          <a:solidFill>
            <a:srgbClr val="F9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Name: </a:t>
            </a:r>
            <a:r>
              <a:rPr lang="en-IN" altLang="zh-CN" sz="2400" b="1" dirty="0">
                <a:solidFill>
                  <a:schemeClr val="bg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Himaja</a:t>
            </a:r>
          </a:p>
        </p:txBody>
      </p:sp>
      <p:sp>
        <p:nvSpPr>
          <p:cNvPr id="36" name="矩形: 圆角 35"/>
          <p:cNvSpPr/>
          <p:nvPr/>
        </p:nvSpPr>
        <p:spPr>
          <a:xfrm>
            <a:off x="6776720" y="4808220"/>
            <a:ext cx="4337685" cy="575310"/>
          </a:xfrm>
          <a:prstGeom prst="roundRect">
            <a:avLst>
              <a:gd name="adj" fmla="val 50000"/>
            </a:avLst>
          </a:prstGeom>
          <a:solidFill>
            <a:srgbClr val="F9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</a:t>
            </a:r>
            <a:r>
              <a:rPr lang="en-IN" altLang="en-US" sz="2400" b="1" dirty="0">
                <a:solidFill>
                  <a:schemeClr val="bg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eacher</a:t>
            </a: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: Vineeth Godishela</a:t>
            </a:r>
          </a:p>
        </p:txBody>
      </p:sp>
      <p:cxnSp>
        <p:nvCxnSpPr>
          <p:cNvPr id="2" name="直接连接符 20"/>
          <p:cNvCxnSpPr/>
          <p:nvPr/>
        </p:nvCxnSpPr>
        <p:spPr>
          <a:xfrm flipV="1">
            <a:off x="1972310" y="2616835"/>
            <a:ext cx="8247380" cy="5016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>
            <p:custDataLst>
              <p:tags r:id="rId1"/>
            </p:custDataLst>
          </p:nvPr>
        </p:nvSpPr>
        <p:spPr>
          <a:xfrm>
            <a:off x="3476625" y="2774315"/>
            <a:ext cx="564515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altLang="zh-CN" sz="3000" dirty="0">
              <a:solidFill>
                <a:srgbClr val="F37857"/>
              </a:solidFill>
              <a:latin typeface="Aclonica" panose="02060503000000020004" pitchFamily="18" charset="0"/>
              <a:ea typeface="Aclonica" panose="02060503000000020004" pitchFamily="18" charset="0"/>
              <a:cs typeface="Manrope SemiBold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422900" y="5141595"/>
            <a:ext cx="1120775" cy="1418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93457" y="1310116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Introduction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2044065"/>
            <a:ext cx="10530205" cy="34448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This project is a Swiggy‑style food delivery website built using HTML, CSS, Bootstrap</a:t>
            </a:r>
            <a:r>
              <a:rPr lang="en-IN"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 and JavaScript</a:t>
            </a:r>
            <a:r>
              <a:rPr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It includes Home, Index (Food Delivery), and Menu pages with dynamic search, filters, and UI components.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It also consists of Instamart page and Dineout page as well </a:t>
            </a:r>
            <a:endParaRPr sz="2800">
              <a:solidFill>
                <a:schemeClr val="accent6">
                  <a:lumMod val="75000"/>
                </a:schemeClr>
              </a:solidFill>
              <a:latin typeface="Mongolian Baiti" panose="03000500000000000000" charset="0"/>
              <a:cs typeface="Mongolian Baiti" panose="03000500000000000000" charset="0"/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The website replicates modern food delivery platform functionality including restaurant listings,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latin typeface="Mongolian Baiti" panose="03000500000000000000" charset="0"/>
                <a:cs typeface="Mongolian Baiti" panose="03000500000000000000" charset="0"/>
                <a:sym typeface="+mn-ea"/>
              </a:rPr>
              <a:t>categories, filtering, and cart operations.</a:t>
            </a:r>
          </a:p>
          <a:p>
            <a:pPr algn="just"/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Mongolian Baiti" panose="03000500000000000000" charset="0"/>
              <a:cs typeface="Mongolian Baiti" panose="03000500000000000000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8898255" y="4786630"/>
            <a:ext cx="1936750" cy="1791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Objectives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Provide a clean and modern UI for food delivery.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Display restaurants with images, categories, </a:t>
            </a: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          </a:t>
            </a: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ratings, menus, and filters.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Allow users to search for restaurants, items, and cuisines.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Implement interactive menu with Add to Cart and Quantity Update.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Built a Responsive and Dynamic  User Friendly website </a:t>
            </a: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9465945" y="5463540"/>
            <a:ext cx="1275080" cy="1106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68015" y="720090"/>
            <a:ext cx="666877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Technologies &amp; tools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HTML5 for structure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CSS3 for styling, layout, animations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Bootstrap Icons for UI icons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JavaScript for dynamic search, filters, and cart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LocalStorage for maintaining selected restaurant and cart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Responsive design techniques using media queries</a:t>
            </a: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926195" y="494030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Home page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H</a:t>
            </a: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eader with branding and navigation links.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Central section with tagline and search.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Location box and search bar direct users to index.html.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Clean orange theme matching Swiggy brand</a:t>
            </a: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Cards that display Food delivery, InstaMart,Dineout .OnClick will redirect to corresponding pages .</a:t>
            </a: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9390380" y="473710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>
              <a:solidFill>
                <a:schemeClr val="accent6">
                  <a:lumMod val="75000"/>
                </a:schemeClr>
              </a:solidFill>
              <a:latin typeface="Aclonica" panose="02060503000000020004" pitchFamily="18" charset="0"/>
              <a:cs typeface="Manrope SemiBold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351266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Header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矩形 38"/>
          <p:cNvSpPr/>
          <p:nvPr/>
        </p:nvSpPr>
        <p:spPr>
          <a:xfrm>
            <a:off x="778510" y="1553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矩形 38"/>
          <p:cNvSpPr/>
          <p:nvPr/>
        </p:nvSpPr>
        <p:spPr>
          <a:xfrm>
            <a:off x="905510" y="1680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Sticky header with brand icon, city selector, search bar, </a:t>
            </a: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sign in ,help and cart</a:t>
            </a: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Search uses dynamic suggestions and keyword match.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Autocomplete UI</a:t>
            </a:r>
            <a:r>
              <a:rPr lang="en-IN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and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Suggestions will appear below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Auto-suggest dropdown loaded via JavaScript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Cart badge updates live.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Fully responsive with mobile behavior adjustments.</a:t>
            </a: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" y="1017905"/>
            <a:ext cx="10919460" cy="66294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9382125" y="5582285"/>
            <a:ext cx="1452880" cy="979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Category Carousel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Scrollable horizontal list of food categories.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Category selection filters restaurants.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Custom arrows for smooth transitions.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Fully responsive with breakpoints for smaller screens</a:t>
            </a:r>
            <a:r>
              <a:rPr sz="3200">
                <a:sym typeface="+mn-ea"/>
              </a:rPr>
              <a:t>.</a:t>
            </a: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75" y="4034155"/>
            <a:ext cx="1050036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Sidebar Filters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724025"/>
            <a:ext cx="7306310" cy="3409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/>
            <a:r>
              <a:rPr sz="3200" u="sng">
                <a:solidFill>
                  <a:schemeClr val="accent6">
                    <a:lumMod val="75000"/>
                  </a:schemeClr>
                </a:solidFill>
                <a:sym typeface="+mn-ea"/>
              </a:rPr>
              <a:t> Filters include: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Veg / Non‑Veg (single select)</a:t>
            </a:r>
            <a:r>
              <a:rPr lang="en-IN"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(Radio buttons)</a:t>
            </a: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Categories(multi‑select)</a:t>
            </a:r>
            <a:r>
              <a:rPr lang="en-IN"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(CheckBoxes)</a:t>
            </a: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Price Range slider (min/max)</a:t>
            </a:r>
            <a:r>
              <a:rPr lang="en-IN"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(Range Bar)</a:t>
            </a: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Delivery Time filter</a:t>
            </a:r>
            <a:r>
              <a:rPr lang="en-IN"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(Dropdown)</a:t>
            </a: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Distance sort</a:t>
            </a:r>
            <a:r>
              <a:rPr lang="en-IN"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(Dropdown)</a:t>
            </a: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All filters update restaurant list dynamically.</a:t>
            </a: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055" y="1028700"/>
            <a:ext cx="3310890" cy="5198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Resturant Grid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Cards display restaurant image, name, categories, price range, and delivery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Clicking a restaurant stores it in LocalStorage and opens its menu.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Search bar filters results live.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Skeleton loading is shown while data loads.</a:t>
            </a: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175" y="4393565"/>
            <a:ext cx="6009005" cy="2169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Footer</a:t>
            </a:r>
          </a:p>
        </p:txBody>
      </p:sp>
      <p:sp>
        <p:nvSpPr>
          <p:cNvPr id="39" name="矩形 38"/>
          <p:cNvSpPr/>
          <p:nvPr/>
        </p:nvSpPr>
        <p:spPr>
          <a:xfrm>
            <a:off x="651510" y="1426845"/>
            <a:ext cx="1053020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Multi‑column footer with links, policies, cities, social media icons.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App store buttons, company info, and Swiggy branding included.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Fully responsive grid layout.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3988435"/>
            <a:ext cx="8072755" cy="2487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-Overview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1002474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The Dineout page showcases top dining restaurants with a modern, responsive layout.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It includes search, advanced filtering, sorting, cuisine categories, and dynamic restaurant cards.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All UI components are powered by Bootstrap and</a:t>
            </a: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</a:t>
            </a: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JavaScript </a:t>
            </a:r>
            <a:r>
              <a:rPr lang="en-I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.</a:t>
            </a: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214995" y="4618355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-Navbar</a:t>
            </a:r>
          </a:p>
        </p:txBody>
      </p:sp>
      <p:sp>
        <p:nvSpPr>
          <p:cNvPr id="39" name="矩形 38"/>
          <p:cNvSpPr/>
          <p:nvPr/>
        </p:nvSpPr>
        <p:spPr>
          <a:xfrm>
            <a:off x="904240" y="2120900"/>
            <a:ext cx="1002474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Clean white Bootstrap navbar.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Contains: Dineout logo, search bar, Login/Logout button.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Login state verified via localStorage.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Logged-in users see 'Logout'; others redirected to signin.html.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Mobile-responsive design ensures smooth experience.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15" y="1426845"/>
            <a:ext cx="984377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50887" y="720201"/>
            <a:ext cx="560508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-Banner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1002474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Large hero banner with fixed-height card styling.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Background image uses Swiggy-style marketing banner.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Overlay contains main title: 'Explore Top Dining Out Restaurants in Hyderabad'.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Provides premium look and sets context for the page.</a:t>
            </a: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4494530"/>
            <a:ext cx="7973695" cy="1838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566670" y="720090"/>
            <a:ext cx="705802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-Filter &amp;Sort</a:t>
            </a:r>
          </a:p>
        </p:txBody>
      </p:sp>
      <p:sp>
        <p:nvSpPr>
          <p:cNvPr id="39" name="矩形 38"/>
          <p:cNvSpPr/>
          <p:nvPr/>
        </p:nvSpPr>
        <p:spPr>
          <a:xfrm>
            <a:off x="539115" y="1426845"/>
            <a:ext cx="1101661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 u="sng">
                <a:solidFill>
                  <a:schemeClr val="accent6">
                    <a:lumMod val="75000"/>
                  </a:schemeClr>
                </a:solidFill>
                <a:sym typeface="+mn-ea"/>
              </a:rPr>
              <a:t>The control bar includes: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Filter button – opens custom filter panel via script.js.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Sorting dropdown – Relevance, Rating High→Low, Price Low→High, Distance Near→Far, A→Z.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Distance filter – Search within 5, 10, 15 km.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Rating 4+ checkbox – Filters high-rated restaurants.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Reset button – Clears all filters instantly.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 Examples: Chinese, Italian, North Indian, South Indian, Bakery,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Users can multi-select cuisines.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solidFill>
                  <a:schemeClr val="accent6">
                    <a:lumMod val="75000"/>
                  </a:schemeClr>
                </a:solidFill>
                <a:sym typeface="+mn-ea"/>
              </a:rPr>
              <a:t>Filters instantly update restaurant results.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sz="24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24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070" y="5314315"/>
            <a:ext cx="10030460" cy="1018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5955" y="720090"/>
            <a:ext cx="84867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-Cards Grid Layout</a:t>
            </a:r>
          </a:p>
        </p:txBody>
      </p:sp>
      <p:sp>
        <p:nvSpPr>
          <p:cNvPr id="39" name="矩形 38"/>
          <p:cNvSpPr/>
          <p:nvPr/>
        </p:nvSpPr>
        <p:spPr>
          <a:xfrm>
            <a:off x="597535" y="1426845"/>
            <a:ext cx="676973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sym typeface="+mn-ea"/>
              </a:rPr>
              <a:t>Each restaurant card shows image, name, cuisine, distance, rating, and price.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sym typeface="+mn-ea"/>
              </a:rPr>
              <a:t> Cards are generated dynamically based on JSON restaurant data in script.js.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sym typeface="+mn-ea"/>
              </a:rPr>
              <a:t>Bootstrap grid ensures responsive layout (row g-4).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sym typeface="+mn-ea"/>
              </a:rPr>
              <a:t>Sorting, searching, and filtering all change this list in real-time.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2800">
                <a:solidFill>
                  <a:schemeClr val="accent6">
                    <a:lumMod val="75000"/>
                  </a:schemeClr>
                </a:solidFill>
                <a:sym typeface="+mn-ea"/>
              </a:rPr>
              <a:t>Provides seamless browsing experience for users.</a:t>
            </a:r>
          </a:p>
          <a:p>
            <a:pPr algn="just"/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905" y="1755140"/>
            <a:ext cx="4518660" cy="39389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404620" y="720090"/>
            <a:ext cx="889000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-details onClick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1002474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← Back to list' button leads to dineout.html.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Page structured within a clean container (Bootstrap spacing).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Fully responsive on mobile devices.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Dineout page stores selected restaurant in localStorage.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JS creates dynamic HTML (image, title, cuisines, offers).</a:t>
            </a:r>
          </a:p>
          <a:p>
            <a:pPr indent="0" algn="just">
              <a:buFont typeface="Arial" panose="020B0604020202020204" pitchFamily="34" charset="0"/>
              <a:buNone/>
            </a:pPr>
            <a:endParaRPr sz="3200">
              <a:sym typeface="+mn-ea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sz="3200"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969885" y="4838065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227455" y="669925"/>
            <a:ext cx="90836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Dineout -Table Booking 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6569710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Includes a 'Book Table' button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Clicking it triggers Bootstrap Toast.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Toast message: '✔ Table booked successfully!'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Toast appears at bottom-right of screen.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Adds real-world interactivity and UX feedback.</a:t>
            </a: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245" y="1538605"/>
            <a:ext cx="4245610" cy="42964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04770" y="720090"/>
            <a:ext cx="624395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Instamart -Overview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690689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Displays store items in a responsive grid layout.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Includes search bar, membership banner, and right-side delivery ETA panel.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Items include price, original price, weight, and add/quantity controls.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Floating bottom cart updates dynamically as items are added.</a:t>
            </a:r>
          </a:p>
          <a:p>
            <a:pPr indent="0" algn="just">
              <a:buNone/>
            </a:pP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840" y="1630680"/>
            <a:ext cx="3262630" cy="3495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04770" y="720090"/>
            <a:ext cx="624395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Instamart -Cart</a:t>
            </a:r>
          </a:p>
        </p:txBody>
      </p:sp>
      <p:sp>
        <p:nvSpPr>
          <p:cNvPr id="39" name="矩形 38"/>
          <p:cNvSpPr/>
          <p:nvPr/>
        </p:nvSpPr>
        <p:spPr>
          <a:xfrm>
            <a:off x="699135" y="1426845"/>
            <a:ext cx="7217410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buNone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• Displays user's cart items with quantity controls.</a:t>
            </a:r>
          </a:p>
          <a:p>
            <a:pPr indent="0" algn="just">
              <a:buNone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• Shows delivery ETA, membership banner, and screenshot reference.</a:t>
            </a:r>
          </a:p>
          <a:p>
            <a:pPr indent="0" algn="just">
              <a:buNone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• Includes coupon system, bill breakdown, and sticky bottom checkout bar.</a:t>
            </a:r>
          </a:p>
          <a:p>
            <a:pPr indent="0" algn="just">
              <a:buNone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• Uses JavaScript to manage cart items, billing logic, and coupon validation.</a:t>
            </a:r>
          </a:p>
          <a:p>
            <a:pPr indent="0" algn="just">
              <a:buNone/>
            </a:pP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840" y="1169670"/>
            <a:ext cx="3677285" cy="41205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Aclonica" panose="02060503000000020004" pitchFamily="18" charset="0"/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04770" y="720090"/>
            <a:ext cx="624395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4000" dirty="0">
                <a:solidFill>
                  <a:srgbClr val="F37857"/>
                </a:solidFill>
                <a:latin typeface="Aclonica" panose="02060503000000020004" pitchFamily="18" charset="0"/>
                <a:ea typeface="Aclonica" panose="02060503000000020004" pitchFamily="18" charset="0"/>
                <a:cs typeface="Manrope SemiBold" charset="0"/>
              </a:rPr>
              <a:t>Instamart -Overview</a:t>
            </a:r>
          </a:p>
        </p:txBody>
      </p:sp>
      <p:sp>
        <p:nvSpPr>
          <p:cNvPr id="39" name="矩形 38"/>
          <p:cNvSpPr/>
          <p:nvPr/>
        </p:nvSpPr>
        <p:spPr>
          <a:xfrm>
            <a:off x="1009650" y="1426845"/>
            <a:ext cx="6906895" cy="4610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Animated panda reacts to email and password focus.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 Login and register forms switch dynamically.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User authentication stored via LocalStorage.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Successful login redirects to index.html.</a:t>
            </a:r>
          </a:p>
          <a:p>
            <a:pPr indent="0" algn="just">
              <a:buNone/>
            </a:pPr>
            <a:endParaRPr sz="3200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just"/>
            <a:endParaRPr lang="zh-CN" alt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705" y="1494790"/>
            <a:ext cx="3442970" cy="35312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7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65100" y="203200"/>
            <a:ext cx="11861800" cy="6451600"/>
          </a:xfrm>
          <a:prstGeom prst="roundRect">
            <a:avLst>
              <a:gd name="adj" fmla="val 23950"/>
            </a:avLst>
          </a:prstGeom>
          <a:solidFill>
            <a:srgbClr val="FD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65100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5100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726106" y="203200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26106" y="6332613"/>
            <a:ext cx="322187" cy="322187"/>
          </a:xfrm>
          <a:prstGeom prst="ellipse">
            <a:avLst/>
          </a:prstGeom>
          <a:solidFill>
            <a:srgbClr val="F8F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40914" y="1381315"/>
            <a:ext cx="6574514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dirty="0">
                <a:solidFill>
                  <a:srgbClr val="F37857"/>
                </a:solidFill>
                <a:latin typeface="Aclonica" panose="02060503000000020004" pitchFamily="18" charset="0"/>
                <a:cs typeface="Manrope SemiBold" charset="0"/>
              </a:rPr>
              <a:t>THANKS </a:t>
            </a:r>
            <a:r>
              <a:rPr lang="en-IN" altLang="en-US" sz="6000" dirty="0">
                <a:solidFill>
                  <a:srgbClr val="F37857"/>
                </a:solidFill>
                <a:latin typeface="Aclonica" panose="02060503000000020004" pitchFamily="18" charset="0"/>
                <a:cs typeface="Manrope SemiBold" charset="0"/>
              </a:rPr>
              <a:t>YOU</a:t>
            </a:r>
          </a:p>
        </p:txBody>
      </p:sp>
      <p:sp>
        <p:nvSpPr>
          <p:cNvPr id="32" name="任意多边形: 形状 31"/>
          <p:cNvSpPr/>
          <p:nvPr/>
        </p:nvSpPr>
        <p:spPr>
          <a:xfrm>
            <a:off x="1146326" y="3629168"/>
            <a:ext cx="2558340" cy="299009"/>
          </a:xfrm>
          <a:custGeom>
            <a:avLst/>
            <a:gdLst>
              <a:gd name="connsiteX0" fmla="*/ 0 w 1597572"/>
              <a:gd name="connsiteY0" fmla="*/ 183151 h 288410"/>
              <a:gd name="connsiteX1" fmla="*/ 294289 w 1597572"/>
              <a:gd name="connsiteY1" fmla="*/ 46516 h 288410"/>
              <a:gd name="connsiteX2" fmla="*/ 935421 w 1597572"/>
              <a:gd name="connsiteY2" fmla="*/ 288254 h 288410"/>
              <a:gd name="connsiteX3" fmla="*/ 1103586 w 1597572"/>
              <a:gd name="connsiteY3" fmla="*/ 4475 h 288410"/>
              <a:gd name="connsiteX4" fmla="*/ 1597572 w 1597572"/>
              <a:gd name="connsiteY4" fmla="*/ 141109 h 28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572" h="288410">
                <a:moveTo>
                  <a:pt x="0" y="183151"/>
                </a:moveTo>
                <a:cubicBezTo>
                  <a:pt x="69193" y="106075"/>
                  <a:pt x="138386" y="28999"/>
                  <a:pt x="294289" y="46516"/>
                </a:cubicBezTo>
                <a:cubicBezTo>
                  <a:pt x="450192" y="64033"/>
                  <a:pt x="800538" y="295261"/>
                  <a:pt x="935421" y="288254"/>
                </a:cubicBezTo>
                <a:cubicBezTo>
                  <a:pt x="1070304" y="281247"/>
                  <a:pt x="993228" y="28999"/>
                  <a:pt x="1103586" y="4475"/>
                </a:cubicBezTo>
                <a:cubicBezTo>
                  <a:pt x="1213944" y="-20049"/>
                  <a:pt x="1405758" y="60530"/>
                  <a:pt x="1597572" y="141109"/>
                </a:cubicBezTo>
              </a:path>
            </a:pathLst>
          </a:custGeom>
          <a:noFill/>
          <a:ln w="19050">
            <a:solidFill>
              <a:srgbClr val="F9B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2" name="Picture 1" descr="pngtree-delivery-scooter-rider-vector-png-image_165781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995" y="2446655"/>
            <a:ext cx="3424555" cy="34245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09cc8be-14f7-44a7-9ffe-ea3bc2704abb"/>
  <p:tag name="COMMONDATA" val="eyJoZGlkIjoiODliZWY4OTY0MGRkODE3MzUwYWNjNzJlOTZjZjEzO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0.83440944881892,&quot;left&quot;:128.54472440944883,&quot;top&quot;:266.8142519685039,&quot;width&quot;:768.0552755905512}"/>
</p:tagLst>
</file>

<file path=ppt/theme/theme1.xml><?xml version="1.0" encoding="utf-8"?>
<a:theme xmlns:a="http://schemas.openxmlformats.org/drawingml/2006/main" name="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Office 主题​​">
  <a:themeElements>
    <a:clrScheme name="自定义 206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7857"/>
      </a:accent1>
      <a:accent2>
        <a:srgbClr val="F9B000"/>
      </a:accent2>
      <a:accent3>
        <a:srgbClr val="F37857"/>
      </a:accent3>
      <a:accent4>
        <a:srgbClr val="F9B000"/>
      </a:accent4>
      <a:accent5>
        <a:srgbClr val="F37857"/>
      </a:accent5>
      <a:accent6>
        <a:srgbClr val="F9B000"/>
      </a:accent6>
      <a:hlink>
        <a:srgbClr val="0563C1"/>
      </a:hlink>
      <a:folHlink>
        <a:srgbClr val="954F72"/>
      </a:folHlink>
    </a:clrScheme>
    <a:fontScheme name="自定义 25">
      <a:majorFont>
        <a:latin typeface="Aclonica"/>
        <a:ea typeface="Aclonica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游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Microsoft Office PowerPoint</Application>
  <PresentationFormat>Widescreen</PresentationFormat>
  <Paragraphs>139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Manrope SemiBold</vt:lpstr>
      <vt:lpstr>Aclonica</vt:lpstr>
      <vt:lpstr>Arial</vt:lpstr>
      <vt:lpstr>Times New Roman</vt:lpstr>
      <vt:lpstr>Mongolian Baiti</vt:lpstr>
      <vt:lpstr>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10_Office 主题​​</vt:lpstr>
      <vt:lpstr>11_Office 主题​​</vt:lpstr>
      <vt:lpstr>12_Office 主题​​</vt:lpstr>
      <vt:lpstr>13_Office 主题​​</vt:lpstr>
      <vt:lpstr>14_Office 主题​​</vt:lpstr>
      <vt:lpstr>15_Office 主题​​</vt:lpstr>
      <vt:lpstr>16_Office 主题​​</vt:lpstr>
      <vt:lpstr>17_Office 主题​​</vt:lpstr>
      <vt:lpstr>18_Office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DELL</cp:lastModifiedBy>
  <cp:revision>54</cp:revision>
  <dcterms:created xsi:type="dcterms:W3CDTF">2023-04-03T02:17:00Z</dcterms:created>
  <dcterms:modified xsi:type="dcterms:W3CDTF">2026-06-19T10:17:29Z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270AC0DD08624E39A55EE90A62871F78_13</vt:lpwstr>
  </property>
  <property fmtid="{D5CDD505-2E9C-101B-9397-08002B2CF9AE}" pid="3" name="KSOProductBuildVer">
    <vt:lpwstr>1033-12.2.0.23155</vt:lpwstr>
  </property>
</Properties>
</file>