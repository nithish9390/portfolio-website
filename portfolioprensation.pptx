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nton" panose="020F0502020204030204" pitchFamily="2" charset="0"/>
      <p:regular r:id="rId14"/>
    </p:embeddedFont>
    <p:embeddedFont>
      <p:font typeface="Poppins" panose="020B0502040204020203" pitchFamily="2" charset="0"/>
      <p:regular r:id="rId15"/>
    </p:embeddedFont>
    <p:embeddedFont>
      <p:font typeface="Poppins Light" panose="020B0502040204020203" pitchFamily="2" charset="0"/>
      <p:regular r:id="rId16"/>
    </p:embeddedFont>
    <p:embeddedFont>
      <p:font typeface="Poppins Medium" panose="020B0502040204020203" pitchFamily="2"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HISH KURAKULA" userId="7217854abd749d00" providerId="LiveId" clId="{8AB22752-9400-4B38-867D-88A14EE81B31}"/>
    <pc:docChg chg="modSld">
      <pc:chgData name="NITHISH KURAKULA" userId="7217854abd749d00" providerId="LiveId" clId="{8AB22752-9400-4B38-867D-88A14EE81B31}" dt="2026-06-19T20:50:55.161" v="0" actId="1076"/>
      <pc:docMkLst>
        <pc:docMk/>
      </pc:docMkLst>
      <pc:sldChg chg="modSp mod">
        <pc:chgData name="NITHISH KURAKULA" userId="7217854abd749d00" providerId="LiveId" clId="{8AB22752-9400-4B38-867D-88A14EE81B31}" dt="2026-06-19T20:50:55.161" v="0" actId="1076"/>
        <pc:sldMkLst>
          <pc:docMk/>
          <pc:sldMk cId="0" sldId="267"/>
        </pc:sldMkLst>
        <pc:grpChg chg="mod">
          <ac:chgData name="NITHISH KURAKULA" userId="7217854abd749d00" providerId="LiveId" clId="{8AB22752-9400-4B38-867D-88A14EE81B31}" dt="2026-06-19T20:50:55.161" v="0" actId="1076"/>
          <ac:grpSpMkLst>
            <pc:docMk/>
            <pc:sldMk cId="0" sldId="267"/>
            <ac:grpSpMk id="15"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717317" y="2364689"/>
            <a:ext cx="10855077" cy="5124019"/>
          </a:xfrm>
          <a:prstGeom prst="rect">
            <a:avLst/>
          </a:prstGeom>
        </p:spPr>
        <p:txBody>
          <a:bodyPr lIns="0" tIns="0" rIns="0" bIns="0" rtlCol="0" anchor="t">
            <a:spAutoFit/>
          </a:bodyPr>
          <a:lstStyle/>
          <a:p>
            <a:pPr algn="ctr">
              <a:lnSpc>
                <a:spcPts val="19688"/>
              </a:lnSpc>
            </a:pPr>
            <a:r>
              <a:rPr lang="en-US" sz="20090">
                <a:solidFill>
                  <a:srgbClr val="05F8DD"/>
                </a:solidFill>
                <a:latin typeface="Anton"/>
                <a:ea typeface="Anton"/>
                <a:cs typeface="Anton"/>
                <a:sym typeface="Anton"/>
              </a:rPr>
              <a:t>PORTFOLIO</a:t>
            </a:r>
          </a:p>
          <a:p>
            <a:pPr algn="ctr">
              <a:lnSpc>
                <a:spcPts val="19688"/>
              </a:lnSpc>
            </a:pPr>
            <a:r>
              <a:rPr lang="en-US" sz="20090">
                <a:solidFill>
                  <a:srgbClr val="05F8DD"/>
                </a:solidFill>
                <a:latin typeface="Anton"/>
                <a:ea typeface="Anton"/>
                <a:cs typeface="Anton"/>
                <a:sym typeface="Anton"/>
              </a:rPr>
              <a:t>WEBSITE</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4269622" y="7488708"/>
            <a:ext cx="6544328" cy="673331"/>
            <a:chOff x="0" y="0"/>
            <a:chExt cx="1723609" cy="177338"/>
          </a:xfrm>
        </p:grpSpPr>
        <p:sp>
          <p:nvSpPr>
            <p:cNvPr id="16" name="Freeform 16"/>
            <p:cNvSpPr/>
            <p:nvPr/>
          </p:nvSpPr>
          <p:spPr>
            <a:xfrm>
              <a:off x="0" y="0"/>
              <a:ext cx="1723609" cy="177338"/>
            </a:xfrm>
            <a:custGeom>
              <a:avLst/>
              <a:gdLst/>
              <a:ahLst/>
              <a:cxnLst/>
              <a:rect l="l" t="t" r="r" b="b"/>
              <a:pathLst>
                <a:path w="1723609" h="177338">
                  <a:moveTo>
                    <a:pt x="88669" y="0"/>
                  </a:moveTo>
                  <a:lnTo>
                    <a:pt x="1634940" y="0"/>
                  </a:lnTo>
                  <a:cubicBezTo>
                    <a:pt x="1683910" y="0"/>
                    <a:pt x="1723609" y="39699"/>
                    <a:pt x="1723609" y="88669"/>
                  </a:cubicBezTo>
                  <a:lnTo>
                    <a:pt x="1723609" y="88669"/>
                  </a:lnTo>
                  <a:cubicBezTo>
                    <a:pt x="1723609" y="112186"/>
                    <a:pt x="1714267" y="134739"/>
                    <a:pt x="1697638" y="151368"/>
                  </a:cubicBezTo>
                  <a:cubicBezTo>
                    <a:pt x="1681010" y="167996"/>
                    <a:pt x="1658456" y="177338"/>
                    <a:pt x="1634940"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7" name="TextBox 17"/>
            <p:cNvSpPr txBox="1"/>
            <p:nvPr/>
          </p:nvSpPr>
          <p:spPr>
            <a:xfrm>
              <a:off x="0" y="-57150"/>
              <a:ext cx="1723609" cy="234488"/>
            </a:xfrm>
            <a:prstGeom prst="rect">
              <a:avLst/>
            </a:prstGeom>
          </p:spPr>
          <p:txBody>
            <a:bodyPr lIns="50800" tIns="50800" rIns="50800" bIns="50800" rtlCol="0" anchor="ctr"/>
            <a:lstStyle/>
            <a:p>
              <a:pPr algn="ctr">
                <a:lnSpc>
                  <a:spcPts val="3079"/>
                </a:lnSpc>
              </a:pPr>
              <a:r>
                <a:rPr lang="en-US" sz="2199">
                  <a:solidFill>
                    <a:srgbClr val="05F8DD"/>
                  </a:solidFill>
                  <a:latin typeface="Poppins"/>
                  <a:ea typeface="Poppins"/>
                  <a:cs typeface="Poppins"/>
                  <a:sym typeface="Poppins"/>
                </a:rPr>
                <a:t>My First Step Towards Full Stack Development</a:t>
              </a:r>
            </a:p>
          </p:txBody>
        </p:sp>
      </p:grpSp>
      <p:grpSp>
        <p:nvGrpSpPr>
          <p:cNvPr id="18" name="Group 18"/>
          <p:cNvGrpSpPr/>
          <p:nvPr/>
        </p:nvGrpSpPr>
        <p:grpSpPr>
          <a:xfrm>
            <a:off x="10958557" y="7488708"/>
            <a:ext cx="2881090" cy="673331"/>
            <a:chOff x="0" y="0"/>
            <a:chExt cx="758806" cy="177338"/>
          </a:xfrm>
        </p:grpSpPr>
        <p:sp>
          <p:nvSpPr>
            <p:cNvPr id="19" name="Freeform 19"/>
            <p:cNvSpPr/>
            <p:nvPr/>
          </p:nvSpPr>
          <p:spPr>
            <a:xfrm>
              <a:off x="0" y="0"/>
              <a:ext cx="758806" cy="177338"/>
            </a:xfrm>
            <a:custGeom>
              <a:avLst/>
              <a:gdLst/>
              <a:ahLst/>
              <a:cxnLst/>
              <a:rect l="l" t="t" r="r" b="b"/>
              <a:pathLst>
                <a:path w="758806" h="177338">
                  <a:moveTo>
                    <a:pt x="88669" y="0"/>
                  </a:moveTo>
                  <a:lnTo>
                    <a:pt x="670136" y="0"/>
                  </a:lnTo>
                  <a:cubicBezTo>
                    <a:pt x="719107" y="0"/>
                    <a:pt x="758806" y="39699"/>
                    <a:pt x="758806" y="88669"/>
                  </a:cubicBezTo>
                  <a:lnTo>
                    <a:pt x="758806" y="88669"/>
                  </a:lnTo>
                  <a:cubicBezTo>
                    <a:pt x="758806" y="112186"/>
                    <a:pt x="749464" y="134739"/>
                    <a:pt x="732835" y="151368"/>
                  </a:cubicBezTo>
                  <a:cubicBezTo>
                    <a:pt x="716206" y="167996"/>
                    <a:pt x="693653" y="177338"/>
                    <a:pt x="670136"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20" name="TextBox 20"/>
            <p:cNvSpPr txBox="1"/>
            <p:nvPr/>
          </p:nvSpPr>
          <p:spPr>
            <a:xfrm>
              <a:off x="0" y="-57150"/>
              <a:ext cx="758806" cy="234488"/>
            </a:xfrm>
            <a:prstGeom prst="rect">
              <a:avLst/>
            </a:prstGeom>
          </p:spPr>
          <p:txBody>
            <a:bodyPr lIns="50800" tIns="50800" rIns="50800" bIns="50800" rtlCol="0" anchor="ctr"/>
            <a:lstStyle/>
            <a:p>
              <a:pPr algn="ctr">
                <a:lnSpc>
                  <a:spcPts val="3079"/>
                </a:lnSpc>
              </a:pPr>
              <a:r>
                <a:rPr lang="en-US" sz="2199">
                  <a:solidFill>
                    <a:srgbClr val="05F8DD"/>
                  </a:solidFill>
                  <a:latin typeface="Poppins"/>
                  <a:ea typeface="Poppins"/>
                  <a:cs typeface="Poppins"/>
                  <a:sym typeface="Poppins"/>
                </a:rPr>
                <a:t>@nithishkumar</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520182" y="2010383"/>
            <a:ext cx="3731265" cy="865990"/>
          </a:xfrm>
          <a:prstGeom prst="rect">
            <a:avLst/>
          </a:prstGeom>
        </p:spPr>
        <p:txBody>
          <a:bodyPr lIns="0" tIns="0" rIns="0" bIns="0" rtlCol="0" anchor="t">
            <a:spAutoFit/>
          </a:bodyPr>
          <a:lstStyle/>
          <a:p>
            <a:pPr algn="l">
              <a:lnSpc>
                <a:spcPts val="6580"/>
              </a:lnSpc>
            </a:pPr>
            <a:r>
              <a:rPr lang="en-US" sz="6714">
                <a:solidFill>
                  <a:srgbClr val="05F8DD"/>
                </a:solidFill>
                <a:latin typeface="Anton"/>
                <a:ea typeface="Anton"/>
                <a:cs typeface="Anton"/>
                <a:sym typeface="Anton"/>
              </a:rPr>
              <a:t>WHO AM I ?</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5251431" y="8064836"/>
            <a:ext cx="5370785" cy="673331"/>
            <a:chOff x="0" y="0"/>
            <a:chExt cx="1414528" cy="177338"/>
          </a:xfrm>
        </p:grpSpPr>
        <p:sp>
          <p:nvSpPr>
            <p:cNvPr id="16" name="Freeform 16"/>
            <p:cNvSpPr/>
            <p:nvPr/>
          </p:nvSpPr>
          <p:spPr>
            <a:xfrm>
              <a:off x="0" y="0"/>
              <a:ext cx="1414528" cy="177338"/>
            </a:xfrm>
            <a:custGeom>
              <a:avLst/>
              <a:gdLst/>
              <a:ahLst/>
              <a:cxnLst/>
              <a:rect l="l" t="t" r="r" b="b"/>
              <a:pathLst>
                <a:path w="1414528" h="177338">
                  <a:moveTo>
                    <a:pt x="88669" y="0"/>
                  </a:moveTo>
                  <a:lnTo>
                    <a:pt x="1325859" y="0"/>
                  </a:lnTo>
                  <a:cubicBezTo>
                    <a:pt x="1374829" y="0"/>
                    <a:pt x="1414528" y="39699"/>
                    <a:pt x="1414528" y="88669"/>
                  </a:cubicBezTo>
                  <a:lnTo>
                    <a:pt x="1414528" y="88669"/>
                  </a:lnTo>
                  <a:cubicBezTo>
                    <a:pt x="1414528" y="112186"/>
                    <a:pt x="1405186" y="134739"/>
                    <a:pt x="1388557" y="151368"/>
                  </a:cubicBezTo>
                  <a:cubicBezTo>
                    <a:pt x="1371928" y="167996"/>
                    <a:pt x="1349375" y="177338"/>
                    <a:pt x="1325859"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7" name="TextBox 17"/>
            <p:cNvSpPr txBox="1"/>
            <p:nvPr/>
          </p:nvSpPr>
          <p:spPr>
            <a:xfrm>
              <a:off x="0" y="-57150"/>
              <a:ext cx="1414528" cy="234488"/>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The Backbone of the Digital World</a:t>
              </a:r>
            </a:p>
          </p:txBody>
        </p:sp>
      </p:grpSp>
      <p:grpSp>
        <p:nvGrpSpPr>
          <p:cNvPr id="18" name="Group 18"/>
          <p:cNvGrpSpPr/>
          <p:nvPr/>
        </p:nvGrpSpPr>
        <p:grpSpPr>
          <a:xfrm>
            <a:off x="10815371" y="1366707"/>
            <a:ext cx="6022141" cy="6285384"/>
            <a:chOff x="0" y="0"/>
            <a:chExt cx="932987" cy="973771"/>
          </a:xfrm>
        </p:grpSpPr>
        <p:sp>
          <p:nvSpPr>
            <p:cNvPr id="19" name="Freeform 19"/>
            <p:cNvSpPr/>
            <p:nvPr/>
          </p:nvSpPr>
          <p:spPr>
            <a:xfrm>
              <a:off x="0" y="0"/>
              <a:ext cx="932987" cy="973771"/>
            </a:xfrm>
            <a:custGeom>
              <a:avLst/>
              <a:gdLst/>
              <a:ahLst/>
              <a:cxnLst/>
              <a:rect l="l" t="t" r="r" b="b"/>
              <a:pathLst>
                <a:path w="932987" h="973771">
                  <a:moveTo>
                    <a:pt x="0" y="0"/>
                  </a:moveTo>
                  <a:lnTo>
                    <a:pt x="932987" y="0"/>
                  </a:lnTo>
                  <a:lnTo>
                    <a:pt x="932987" y="973771"/>
                  </a:lnTo>
                  <a:lnTo>
                    <a:pt x="0" y="973771"/>
                  </a:lnTo>
                  <a:close/>
                </a:path>
              </a:pathLst>
            </a:custGeom>
            <a:blipFill>
              <a:blip r:embed="rId3"/>
              <a:stretch>
                <a:fillRect l="-2185" r="-2185"/>
              </a:stretch>
            </a:blipFill>
            <a:ln w="19050" cap="sq">
              <a:solidFill>
                <a:srgbClr val="05F8DD"/>
              </a:solidFill>
              <a:prstDash val="solid"/>
              <a:miter/>
            </a:ln>
          </p:spPr>
        </p:sp>
      </p:grpSp>
      <p:sp>
        <p:nvSpPr>
          <p:cNvPr id="20" name="TextBox 20"/>
          <p:cNvSpPr txBox="1"/>
          <p:nvPr/>
        </p:nvSpPr>
        <p:spPr>
          <a:xfrm>
            <a:off x="1167996" y="3247420"/>
            <a:ext cx="9454219" cy="4225155"/>
          </a:xfrm>
          <a:prstGeom prst="rect">
            <a:avLst/>
          </a:prstGeom>
        </p:spPr>
        <p:txBody>
          <a:bodyPr lIns="0" tIns="0" rIns="0" bIns="0" rtlCol="0" anchor="t">
            <a:spAutoFit/>
          </a:bodyPr>
          <a:lstStyle/>
          <a:p>
            <a:pPr algn="just">
              <a:lnSpc>
                <a:spcPts val="3756"/>
              </a:lnSpc>
            </a:pPr>
            <a:r>
              <a:rPr lang="en-US" sz="2683">
                <a:solidFill>
                  <a:srgbClr val="05F8DD"/>
                </a:solidFill>
                <a:latin typeface="Poppins"/>
                <a:ea typeface="Poppins"/>
                <a:cs typeface="Poppins"/>
                <a:sym typeface="Poppins"/>
              </a:rPr>
              <a:t>I am a final-year Electronics and Communication Engineering student with a strong interest in software development and web technologies. As part of my Full Stack Development learning journey, I developed a personal portfolio website to showcase my skills, projects, education, and career aspirations. This project reflects both my technical growth and my commitment to continuous learning.</a:t>
            </a:r>
          </a:p>
          <a:p>
            <a:pPr algn="just">
              <a:lnSpc>
                <a:spcPts val="3756"/>
              </a:lnSpc>
              <a:spcBef>
                <a:spcPct val="0"/>
              </a:spcBef>
            </a:pPr>
            <a:endParaRPr lang="en-US" sz="2683">
              <a:solidFill>
                <a:srgbClr val="05F8DD"/>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249945" y="2425158"/>
            <a:ext cx="5371440" cy="2718342"/>
          </a:xfrm>
          <a:prstGeom prst="rect">
            <a:avLst/>
          </a:prstGeom>
        </p:spPr>
        <p:txBody>
          <a:bodyPr lIns="0" tIns="0" rIns="0" bIns="0" rtlCol="0" anchor="t">
            <a:spAutoFit/>
          </a:bodyPr>
          <a:lstStyle/>
          <a:p>
            <a:pPr algn="l">
              <a:lnSpc>
                <a:spcPts val="10487"/>
              </a:lnSpc>
            </a:pPr>
            <a:r>
              <a:rPr lang="en-US" sz="10701">
                <a:solidFill>
                  <a:srgbClr val="05F8DD"/>
                </a:solidFill>
                <a:latin typeface="Anton"/>
                <a:ea typeface="Anton"/>
                <a:cs typeface="Anton"/>
                <a:sym typeface="Anton"/>
              </a:rPr>
              <a:t>WHY THIS PROJECT?</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9318904" y="2606548"/>
            <a:ext cx="4345817" cy="673331"/>
            <a:chOff x="0" y="0"/>
            <a:chExt cx="1144577" cy="177338"/>
          </a:xfrm>
        </p:grpSpPr>
        <p:sp>
          <p:nvSpPr>
            <p:cNvPr id="16" name="Freeform 16"/>
            <p:cNvSpPr/>
            <p:nvPr/>
          </p:nvSpPr>
          <p:spPr>
            <a:xfrm>
              <a:off x="0" y="0"/>
              <a:ext cx="1144577" cy="177338"/>
            </a:xfrm>
            <a:custGeom>
              <a:avLst/>
              <a:gdLst/>
              <a:ahLst/>
              <a:cxnLst/>
              <a:rect l="l" t="t" r="r" b="b"/>
              <a:pathLst>
                <a:path w="1144577" h="177338">
                  <a:moveTo>
                    <a:pt x="88669" y="0"/>
                  </a:moveTo>
                  <a:lnTo>
                    <a:pt x="1055908" y="0"/>
                  </a:lnTo>
                  <a:cubicBezTo>
                    <a:pt x="1104879" y="0"/>
                    <a:pt x="1144577" y="39699"/>
                    <a:pt x="1144577" y="88669"/>
                  </a:cubicBezTo>
                  <a:lnTo>
                    <a:pt x="1144577" y="88669"/>
                  </a:lnTo>
                  <a:cubicBezTo>
                    <a:pt x="1144577" y="112186"/>
                    <a:pt x="1135235" y="134739"/>
                    <a:pt x="1118607" y="151368"/>
                  </a:cubicBezTo>
                  <a:cubicBezTo>
                    <a:pt x="1101978" y="167996"/>
                    <a:pt x="1079425" y="177338"/>
                    <a:pt x="1055908"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7" name="TextBox 17"/>
            <p:cNvSpPr txBox="1"/>
            <p:nvPr/>
          </p:nvSpPr>
          <p:spPr>
            <a:xfrm>
              <a:off x="0" y="-57150"/>
              <a:ext cx="1144577" cy="234488"/>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Different Roles, One Goal</a:t>
              </a:r>
            </a:p>
          </p:txBody>
        </p:sp>
      </p:grpSp>
      <p:grpSp>
        <p:nvGrpSpPr>
          <p:cNvPr id="18" name="Group 18"/>
          <p:cNvGrpSpPr/>
          <p:nvPr/>
        </p:nvGrpSpPr>
        <p:grpSpPr>
          <a:xfrm>
            <a:off x="1475314" y="5791615"/>
            <a:ext cx="6920702" cy="3052480"/>
            <a:chOff x="0" y="0"/>
            <a:chExt cx="1072198" cy="472909"/>
          </a:xfrm>
        </p:grpSpPr>
        <p:sp>
          <p:nvSpPr>
            <p:cNvPr id="19" name="Freeform 19"/>
            <p:cNvSpPr/>
            <p:nvPr/>
          </p:nvSpPr>
          <p:spPr>
            <a:xfrm>
              <a:off x="0" y="0"/>
              <a:ext cx="1072198" cy="472909"/>
            </a:xfrm>
            <a:custGeom>
              <a:avLst/>
              <a:gdLst/>
              <a:ahLst/>
              <a:cxnLst/>
              <a:rect l="l" t="t" r="r" b="b"/>
              <a:pathLst>
                <a:path w="1072198" h="472909">
                  <a:moveTo>
                    <a:pt x="0" y="0"/>
                  </a:moveTo>
                  <a:lnTo>
                    <a:pt x="1072198" y="0"/>
                  </a:lnTo>
                  <a:lnTo>
                    <a:pt x="1072198" y="472909"/>
                  </a:lnTo>
                  <a:lnTo>
                    <a:pt x="0" y="472909"/>
                  </a:lnTo>
                  <a:close/>
                </a:path>
              </a:pathLst>
            </a:custGeom>
            <a:blipFill>
              <a:blip r:embed="rId3"/>
              <a:stretch>
                <a:fillRect t="-25643" b="-25643"/>
              </a:stretch>
            </a:blipFill>
            <a:ln w="19050" cap="sq">
              <a:solidFill>
                <a:srgbClr val="05F8DD"/>
              </a:solidFill>
              <a:prstDash val="solid"/>
              <a:miter/>
            </a:ln>
          </p:spPr>
        </p:sp>
      </p:grpSp>
      <p:sp>
        <p:nvSpPr>
          <p:cNvPr id="20" name="TextBox 20"/>
          <p:cNvSpPr txBox="1"/>
          <p:nvPr/>
        </p:nvSpPr>
        <p:spPr>
          <a:xfrm>
            <a:off x="8212143" y="3451329"/>
            <a:ext cx="8841510" cy="2270454"/>
          </a:xfrm>
          <a:prstGeom prst="rect">
            <a:avLst/>
          </a:prstGeom>
        </p:spPr>
        <p:txBody>
          <a:bodyPr lIns="0" tIns="0" rIns="0" bIns="0" rtlCol="0" anchor="t">
            <a:spAutoFit/>
          </a:bodyPr>
          <a:lstStyle/>
          <a:p>
            <a:pPr algn="just">
              <a:lnSpc>
                <a:spcPts val="3017"/>
              </a:lnSpc>
              <a:spcBef>
                <a:spcPct val="0"/>
              </a:spcBef>
            </a:pPr>
            <a:r>
              <a:rPr lang="en-US" sz="2155">
                <a:solidFill>
                  <a:srgbClr val="05F8DD"/>
                </a:solidFill>
                <a:latin typeface="Poppins Light"/>
                <a:ea typeface="Poppins Light"/>
                <a:cs typeface="Poppins Light"/>
                <a:sym typeface="Poppins Light"/>
              </a:rPr>
              <a:t>The Personal Portfolio Website is a multi-page web application developed using HTML5. The primary goal of the project is to create a professional platform where visitors can learn about my background, technical skills, projects, and career objectives. The website serves as my digital identity and demonstrates my understanding of website structure and navigation..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9360699" y="1420233"/>
            <a:ext cx="6782469" cy="2039448"/>
          </a:xfrm>
          <a:prstGeom prst="rect">
            <a:avLst/>
          </a:prstGeom>
        </p:spPr>
        <p:txBody>
          <a:bodyPr lIns="0" tIns="0" rIns="0" bIns="0" rtlCol="0" anchor="t">
            <a:spAutoFit/>
          </a:bodyPr>
          <a:lstStyle/>
          <a:p>
            <a:pPr algn="l">
              <a:lnSpc>
                <a:spcPts val="7833"/>
              </a:lnSpc>
            </a:pPr>
            <a:r>
              <a:rPr lang="en-US" sz="7993">
                <a:solidFill>
                  <a:srgbClr val="05F8DD"/>
                </a:solidFill>
                <a:latin typeface="Anton"/>
                <a:ea typeface="Anton"/>
                <a:cs typeface="Anton"/>
                <a:sym typeface="Anton"/>
              </a:rPr>
              <a:t>WEBSITE STRUCTURE</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8863191" y="7832153"/>
            <a:ext cx="4539791" cy="673331"/>
            <a:chOff x="0" y="0"/>
            <a:chExt cx="1195665" cy="177338"/>
          </a:xfrm>
        </p:grpSpPr>
        <p:sp>
          <p:nvSpPr>
            <p:cNvPr id="16" name="Freeform 16"/>
            <p:cNvSpPr/>
            <p:nvPr/>
          </p:nvSpPr>
          <p:spPr>
            <a:xfrm>
              <a:off x="0" y="0"/>
              <a:ext cx="1195665" cy="177338"/>
            </a:xfrm>
            <a:custGeom>
              <a:avLst/>
              <a:gdLst/>
              <a:ahLst/>
              <a:cxnLst/>
              <a:rect l="l" t="t" r="r" b="b"/>
              <a:pathLst>
                <a:path w="1195665" h="177338">
                  <a:moveTo>
                    <a:pt x="88669" y="0"/>
                  </a:moveTo>
                  <a:lnTo>
                    <a:pt x="1106996" y="0"/>
                  </a:lnTo>
                  <a:cubicBezTo>
                    <a:pt x="1155967" y="0"/>
                    <a:pt x="1195665" y="39699"/>
                    <a:pt x="1195665" y="88669"/>
                  </a:cubicBezTo>
                  <a:lnTo>
                    <a:pt x="1195665" y="88669"/>
                  </a:lnTo>
                  <a:cubicBezTo>
                    <a:pt x="1195665" y="137640"/>
                    <a:pt x="1155967" y="177338"/>
                    <a:pt x="1106996"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7" name="TextBox 17"/>
            <p:cNvSpPr txBox="1"/>
            <p:nvPr/>
          </p:nvSpPr>
          <p:spPr>
            <a:xfrm>
              <a:off x="0" y="-57150"/>
              <a:ext cx="1195665" cy="234488"/>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Designing What Users See</a:t>
              </a:r>
            </a:p>
          </p:txBody>
        </p:sp>
      </p:grpSp>
      <p:grpSp>
        <p:nvGrpSpPr>
          <p:cNvPr id="18" name="Group 18"/>
          <p:cNvGrpSpPr/>
          <p:nvPr/>
        </p:nvGrpSpPr>
        <p:grpSpPr>
          <a:xfrm>
            <a:off x="1355840" y="2651495"/>
            <a:ext cx="7507351" cy="6287848"/>
            <a:chOff x="0" y="0"/>
            <a:chExt cx="1163085" cy="974152"/>
          </a:xfrm>
        </p:grpSpPr>
        <p:sp>
          <p:nvSpPr>
            <p:cNvPr id="19" name="Freeform 19"/>
            <p:cNvSpPr/>
            <p:nvPr/>
          </p:nvSpPr>
          <p:spPr>
            <a:xfrm>
              <a:off x="0" y="0"/>
              <a:ext cx="1163085" cy="974152"/>
            </a:xfrm>
            <a:custGeom>
              <a:avLst/>
              <a:gdLst/>
              <a:ahLst/>
              <a:cxnLst/>
              <a:rect l="l" t="t" r="r" b="b"/>
              <a:pathLst>
                <a:path w="1163085" h="974152">
                  <a:moveTo>
                    <a:pt x="0" y="0"/>
                  </a:moveTo>
                  <a:lnTo>
                    <a:pt x="1163085" y="0"/>
                  </a:lnTo>
                  <a:lnTo>
                    <a:pt x="1163085" y="974152"/>
                  </a:lnTo>
                  <a:lnTo>
                    <a:pt x="0" y="974152"/>
                  </a:lnTo>
                  <a:close/>
                </a:path>
              </a:pathLst>
            </a:custGeom>
            <a:blipFill>
              <a:blip r:embed="rId3"/>
              <a:stretch>
                <a:fillRect l="-12318" r="-12318"/>
              </a:stretch>
            </a:blipFill>
            <a:ln w="19050" cap="sq">
              <a:solidFill>
                <a:srgbClr val="05F8DD"/>
              </a:solidFill>
              <a:prstDash val="solid"/>
              <a:miter/>
            </a:ln>
          </p:spPr>
        </p:sp>
      </p:grpSp>
      <p:sp>
        <p:nvSpPr>
          <p:cNvPr id="20" name="TextBox 20"/>
          <p:cNvSpPr txBox="1"/>
          <p:nvPr/>
        </p:nvSpPr>
        <p:spPr>
          <a:xfrm>
            <a:off x="9144000" y="3661650"/>
            <a:ext cx="5641587" cy="3970478"/>
          </a:xfrm>
          <a:prstGeom prst="rect">
            <a:avLst/>
          </a:prstGeom>
        </p:spPr>
        <p:txBody>
          <a:bodyPr lIns="0" tIns="0" rIns="0" bIns="0" rtlCol="0" anchor="t">
            <a:spAutoFit/>
          </a:bodyPr>
          <a:lstStyle/>
          <a:p>
            <a:pPr algn="just">
              <a:lnSpc>
                <a:spcPts val="4543"/>
              </a:lnSpc>
            </a:pPr>
            <a:r>
              <a:rPr lang="en-US" sz="3245">
                <a:solidFill>
                  <a:srgbClr val="05F8DD"/>
                </a:solidFill>
                <a:latin typeface="Poppins Light"/>
                <a:ea typeface="Poppins Light"/>
                <a:cs typeface="Poppins Light"/>
                <a:sym typeface="Poppins Light"/>
              </a:rPr>
              <a:t>✔ Home Page</a:t>
            </a:r>
          </a:p>
          <a:p>
            <a:pPr algn="just">
              <a:lnSpc>
                <a:spcPts val="4543"/>
              </a:lnSpc>
            </a:pPr>
            <a:r>
              <a:rPr lang="en-US" sz="3245">
                <a:solidFill>
                  <a:srgbClr val="05F8DD"/>
                </a:solidFill>
                <a:latin typeface="Poppins Light"/>
                <a:ea typeface="Poppins Light"/>
                <a:cs typeface="Poppins Light"/>
                <a:sym typeface="Poppins Light"/>
              </a:rPr>
              <a:t>✔ About Me</a:t>
            </a:r>
          </a:p>
          <a:p>
            <a:pPr algn="just">
              <a:lnSpc>
                <a:spcPts val="4543"/>
              </a:lnSpc>
            </a:pPr>
            <a:r>
              <a:rPr lang="en-US" sz="3245">
                <a:solidFill>
                  <a:srgbClr val="05F8DD"/>
                </a:solidFill>
                <a:latin typeface="Poppins Light"/>
                <a:ea typeface="Poppins Light"/>
                <a:cs typeface="Poppins Light"/>
                <a:sym typeface="Poppins Light"/>
              </a:rPr>
              <a:t>✔ Skills</a:t>
            </a:r>
          </a:p>
          <a:p>
            <a:pPr algn="just">
              <a:lnSpc>
                <a:spcPts val="4543"/>
              </a:lnSpc>
            </a:pPr>
            <a:r>
              <a:rPr lang="en-US" sz="3245">
                <a:solidFill>
                  <a:srgbClr val="05F8DD"/>
                </a:solidFill>
                <a:latin typeface="Poppins Light"/>
                <a:ea typeface="Poppins Light"/>
                <a:cs typeface="Poppins Light"/>
                <a:sym typeface="Poppins Light"/>
              </a:rPr>
              <a:t>✔ Projects</a:t>
            </a:r>
          </a:p>
          <a:p>
            <a:pPr algn="just">
              <a:lnSpc>
                <a:spcPts val="4543"/>
              </a:lnSpc>
            </a:pPr>
            <a:r>
              <a:rPr lang="en-US" sz="3245">
                <a:solidFill>
                  <a:srgbClr val="05F8DD"/>
                </a:solidFill>
                <a:latin typeface="Poppins Light"/>
                <a:ea typeface="Poppins Light"/>
                <a:cs typeface="Poppins Light"/>
                <a:sym typeface="Poppins Light"/>
              </a:rPr>
              <a:t>✔ Contact</a:t>
            </a:r>
          </a:p>
          <a:p>
            <a:pPr algn="just">
              <a:lnSpc>
                <a:spcPts val="4543"/>
              </a:lnSpc>
            </a:pPr>
            <a:r>
              <a:rPr lang="en-US" sz="3245">
                <a:solidFill>
                  <a:srgbClr val="05F8DD"/>
                </a:solidFill>
                <a:latin typeface="Poppins Light"/>
                <a:ea typeface="Poppins Light"/>
                <a:cs typeface="Poppins Light"/>
                <a:sym typeface="Poppins Light"/>
              </a:rPr>
              <a:t>✔ Education Information</a:t>
            </a:r>
          </a:p>
          <a:p>
            <a:pPr algn="just">
              <a:lnSpc>
                <a:spcPts val="4543"/>
              </a:lnSpc>
              <a:spcBef>
                <a:spcPct val="0"/>
              </a:spcBef>
            </a:pPr>
            <a:endParaRPr lang="en-US" sz="3245">
              <a:solidFill>
                <a:srgbClr val="05F8DD"/>
              </a:solidFill>
              <a:latin typeface="Poppins Light"/>
              <a:ea typeface="Poppins Light"/>
              <a:cs typeface="Poppins Light"/>
              <a:sym typeface="Poppi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4" name="AutoShape 4"/>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5" name="AutoShape 5"/>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6" name="AutoShape 6"/>
          <p:cNvSpPr/>
          <p:nvPr/>
        </p:nvSpPr>
        <p:spPr>
          <a:xfrm flipH="1">
            <a:off x="933450" y="3440260"/>
            <a:ext cx="16209839" cy="0"/>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355840" y="3812325"/>
            <a:ext cx="6405314" cy="673331"/>
            <a:chOff x="0" y="0"/>
            <a:chExt cx="1686996" cy="177338"/>
          </a:xfrm>
        </p:grpSpPr>
        <p:sp>
          <p:nvSpPr>
            <p:cNvPr id="16" name="Freeform 16"/>
            <p:cNvSpPr/>
            <p:nvPr/>
          </p:nvSpPr>
          <p:spPr>
            <a:xfrm>
              <a:off x="0" y="0"/>
              <a:ext cx="1686996" cy="177338"/>
            </a:xfrm>
            <a:custGeom>
              <a:avLst/>
              <a:gdLst/>
              <a:ahLst/>
              <a:cxnLst/>
              <a:rect l="l" t="t" r="r" b="b"/>
              <a:pathLst>
                <a:path w="1686996" h="177338">
                  <a:moveTo>
                    <a:pt x="88669" y="0"/>
                  </a:moveTo>
                  <a:lnTo>
                    <a:pt x="1598327" y="0"/>
                  </a:lnTo>
                  <a:cubicBezTo>
                    <a:pt x="1621844" y="0"/>
                    <a:pt x="1644397" y="9342"/>
                    <a:pt x="1661026" y="25971"/>
                  </a:cubicBezTo>
                  <a:cubicBezTo>
                    <a:pt x="1677654" y="42599"/>
                    <a:pt x="1686996" y="65153"/>
                    <a:pt x="1686996" y="88669"/>
                  </a:cubicBezTo>
                  <a:lnTo>
                    <a:pt x="1686996" y="88669"/>
                  </a:lnTo>
                  <a:cubicBezTo>
                    <a:pt x="1686996" y="137640"/>
                    <a:pt x="1647298" y="177338"/>
                    <a:pt x="1598327"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7" name="TextBox 17"/>
            <p:cNvSpPr txBox="1"/>
            <p:nvPr/>
          </p:nvSpPr>
          <p:spPr>
            <a:xfrm>
              <a:off x="0" y="-57150"/>
              <a:ext cx="1686996" cy="234488"/>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Powering the Website Behind the Scenes</a:t>
              </a:r>
            </a:p>
          </p:txBody>
        </p:sp>
      </p:grpSp>
      <p:grpSp>
        <p:nvGrpSpPr>
          <p:cNvPr id="18" name="Group 18"/>
          <p:cNvGrpSpPr/>
          <p:nvPr/>
        </p:nvGrpSpPr>
        <p:grpSpPr>
          <a:xfrm>
            <a:off x="11124555" y="3605373"/>
            <a:ext cx="4725360" cy="4322633"/>
            <a:chOff x="0" y="0"/>
            <a:chExt cx="784312" cy="717467"/>
          </a:xfrm>
        </p:grpSpPr>
        <p:sp>
          <p:nvSpPr>
            <p:cNvPr id="19" name="Freeform 19"/>
            <p:cNvSpPr/>
            <p:nvPr/>
          </p:nvSpPr>
          <p:spPr>
            <a:xfrm>
              <a:off x="0" y="0"/>
              <a:ext cx="784312" cy="717467"/>
            </a:xfrm>
            <a:custGeom>
              <a:avLst/>
              <a:gdLst/>
              <a:ahLst/>
              <a:cxnLst/>
              <a:rect l="l" t="t" r="r" b="b"/>
              <a:pathLst>
                <a:path w="784312" h="717467">
                  <a:moveTo>
                    <a:pt x="0" y="0"/>
                  </a:moveTo>
                  <a:lnTo>
                    <a:pt x="784312" y="0"/>
                  </a:lnTo>
                  <a:lnTo>
                    <a:pt x="784312" y="717467"/>
                  </a:lnTo>
                  <a:lnTo>
                    <a:pt x="0" y="717467"/>
                  </a:lnTo>
                  <a:close/>
                </a:path>
              </a:pathLst>
            </a:custGeom>
            <a:blipFill>
              <a:blip r:embed="rId3"/>
              <a:stretch>
                <a:fillRect l="-202" r="-7501"/>
              </a:stretch>
            </a:blipFill>
            <a:ln w="19050" cap="sq">
              <a:solidFill>
                <a:srgbClr val="05F8DD"/>
              </a:solidFill>
              <a:prstDash val="solid"/>
              <a:miter/>
            </a:ln>
          </p:spPr>
        </p:sp>
      </p:grpSp>
      <p:sp>
        <p:nvSpPr>
          <p:cNvPr id="20" name="TextBox 20"/>
          <p:cNvSpPr txBox="1"/>
          <p:nvPr/>
        </p:nvSpPr>
        <p:spPr>
          <a:xfrm>
            <a:off x="1666001" y="2510053"/>
            <a:ext cx="3751311" cy="911157"/>
          </a:xfrm>
          <a:prstGeom prst="rect">
            <a:avLst/>
          </a:prstGeom>
        </p:spPr>
        <p:txBody>
          <a:bodyPr lIns="0" tIns="0" rIns="0" bIns="0" rtlCol="0" anchor="t">
            <a:spAutoFit/>
          </a:bodyPr>
          <a:lstStyle/>
          <a:p>
            <a:pPr algn="ctr">
              <a:lnSpc>
                <a:spcPts val="6810"/>
              </a:lnSpc>
            </a:pPr>
            <a:r>
              <a:rPr lang="en-US" sz="6949">
                <a:solidFill>
                  <a:srgbClr val="05F8DD"/>
                </a:solidFill>
                <a:latin typeface="Anton"/>
                <a:ea typeface="Anton"/>
                <a:cs typeface="Anton"/>
                <a:sym typeface="Anton"/>
              </a:rPr>
              <a:t>HOME PAGE</a:t>
            </a:r>
          </a:p>
        </p:txBody>
      </p:sp>
      <p:sp>
        <p:nvSpPr>
          <p:cNvPr id="21" name="TextBox 21"/>
          <p:cNvSpPr txBox="1"/>
          <p:nvPr/>
        </p:nvSpPr>
        <p:spPr>
          <a:xfrm>
            <a:off x="1666001" y="4520680"/>
            <a:ext cx="6856323" cy="5245089"/>
          </a:xfrm>
          <a:prstGeom prst="rect">
            <a:avLst/>
          </a:prstGeom>
        </p:spPr>
        <p:txBody>
          <a:bodyPr lIns="0" tIns="0" rIns="0" bIns="0" rtlCol="0" anchor="t">
            <a:spAutoFit/>
          </a:bodyPr>
          <a:lstStyle/>
          <a:p>
            <a:pPr algn="just">
              <a:lnSpc>
                <a:spcPts val="6001"/>
              </a:lnSpc>
            </a:pPr>
            <a:r>
              <a:rPr lang="en-US" sz="4286">
                <a:solidFill>
                  <a:srgbClr val="05F8DD"/>
                </a:solidFill>
                <a:latin typeface="Poppins Light"/>
                <a:ea typeface="Poppins Light"/>
                <a:cs typeface="Poppins Light"/>
                <a:sym typeface="Poppins Light"/>
              </a:rPr>
              <a:t>•Professional Introduction</a:t>
            </a:r>
          </a:p>
          <a:p>
            <a:pPr algn="just">
              <a:lnSpc>
                <a:spcPts val="6001"/>
              </a:lnSpc>
            </a:pPr>
            <a:r>
              <a:rPr lang="en-US" sz="4286">
                <a:solidFill>
                  <a:srgbClr val="05F8DD"/>
                </a:solidFill>
                <a:latin typeface="Poppins Light"/>
                <a:ea typeface="Poppins Light"/>
                <a:cs typeface="Poppins Light"/>
                <a:sym typeface="Poppins Light"/>
              </a:rPr>
              <a:t>• Career Objective</a:t>
            </a:r>
          </a:p>
          <a:p>
            <a:pPr algn="just">
              <a:lnSpc>
                <a:spcPts val="6001"/>
              </a:lnSpc>
            </a:pPr>
            <a:r>
              <a:rPr lang="en-US" sz="4286">
                <a:solidFill>
                  <a:srgbClr val="05F8DD"/>
                </a:solidFill>
                <a:latin typeface="Poppins Light"/>
                <a:ea typeface="Poppins Light"/>
                <a:cs typeface="Poppins Light"/>
                <a:sym typeface="Poppins Light"/>
              </a:rPr>
              <a:t>• Professional Summary</a:t>
            </a:r>
          </a:p>
          <a:p>
            <a:pPr algn="just">
              <a:lnSpc>
                <a:spcPts val="6001"/>
              </a:lnSpc>
            </a:pPr>
            <a:r>
              <a:rPr lang="en-US" sz="4286">
                <a:solidFill>
                  <a:srgbClr val="05F8DD"/>
                </a:solidFill>
                <a:latin typeface="Poppins Light"/>
                <a:ea typeface="Poppins Light"/>
                <a:cs typeface="Poppins Light"/>
                <a:sym typeface="Poppins Light"/>
              </a:rPr>
              <a:t>• Navigation Menu</a:t>
            </a:r>
          </a:p>
          <a:p>
            <a:pPr algn="just">
              <a:lnSpc>
                <a:spcPts val="6001"/>
              </a:lnSpc>
            </a:pPr>
            <a:r>
              <a:rPr lang="en-US" sz="4286">
                <a:solidFill>
                  <a:srgbClr val="05F8DD"/>
                </a:solidFill>
                <a:latin typeface="Poppins Light"/>
                <a:ea typeface="Poppins Light"/>
                <a:cs typeface="Poppins Light"/>
                <a:sym typeface="Poppins Light"/>
              </a:rPr>
              <a:t>• Profile Information</a:t>
            </a:r>
          </a:p>
          <a:p>
            <a:pPr algn="just">
              <a:lnSpc>
                <a:spcPts val="6001"/>
              </a:lnSpc>
            </a:pPr>
            <a:endParaRPr lang="en-US" sz="4286">
              <a:solidFill>
                <a:srgbClr val="05F8DD"/>
              </a:solidFill>
              <a:latin typeface="Poppins Light"/>
              <a:ea typeface="Poppins Light"/>
              <a:cs typeface="Poppins Light"/>
              <a:sym typeface="Poppins Light"/>
            </a:endParaRPr>
          </a:p>
          <a:p>
            <a:pPr algn="just">
              <a:lnSpc>
                <a:spcPts val="6001"/>
              </a:lnSpc>
              <a:spcBef>
                <a:spcPct val="0"/>
              </a:spcBef>
            </a:pPr>
            <a:endParaRPr lang="en-US" sz="4286">
              <a:solidFill>
                <a:srgbClr val="05F8DD"/>
              </a:solidFill>
              <a:latin typeface="Poppins Light"/>
              <a:ea typeface="Poppins Light"/>
              <a:cs typeface="Poppins Light"/>
              <a:sym typeface="Poppi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4" name="AutoShape 4"/>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5" name="AutoShape 5"/>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8" name="Group 8"/>
          <p:cNvGrpSpPr/>
          <p:nvPr/>
        </p:nvGrpSpPr>
        <p:grpSpPr>
          <a:xfrm>
            <a:off x="1028700" y="1039566"/>
            <a:ext cx="654281" cy="654281"/>
            <a:chOff x="0" y="0"/>
            <a:chExt cx="647700" cy="647700"/>
          </a:xfrm>
        </p:grpSpPr>
        <p:sp>
          <p:nvSpPr>
            <p:cNvPr id="9" name="Freeform 9"/>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0" name="TextBox 10"/>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6701862" y="8612203"/>
            <a:ext cx="654281" cy="654281"/>
            <a:chOff x="0" y="0"/>
            <a:chExt cx="647700" cy="647700"/>
          </a:xfrm>
        </p:grpSpPr>
        <p:sp>
          <p:nvSpPr>
            <p:cNvPr id="12" name="Freeform 12"/>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3" name="TextBox 13"/>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012540" y="5977066"/>
            <a:ext cx="4745757" cy="673331"/>
            <a:chOff x="0" y="0"/>
            <a:chExt cx="1249911" cy="177338"/>
          </a:xfrm>
        </p:grpSpPr>
        <p:sp>
          <p:nvSpPr>
            <p:cNvPr id="15" name="Freeform 15"/>
            <p:cNvSpPr/>
            <p:nvPr/>
          </p:nvSpPr>
          <p:spPr>
            <a:xfrm>
              <a:off x="0" y="0"/>
              <a:ext cx="1249911" cy="177338"/>
            </a:xfrm>
            <a:custGeom>
              <a:avLst/>
              <a:gdLst/>
              <a:ahLst/>
              <a:cxnLst/>
              <a:rect l="l" t="t" r="r" b="b"/>
              <a:pathLst>
                <a:path w="1249911" h="177338">
                  <a:moveTo>
                    <a:pt x="88669" y="0"/>
                  </a:moveTo>
                  <a:lnTo>
                    <a:pt x="1161242" y="0"/>
                  </a:lnTo>
                  <a:cubicBezTo>
                    <a:pt x="1210213" y="0"/>
                    <a:pt x="1249911" y="39699"/>
                    <a:pt x="1249911" y="88669"/>
                  </a:cubicBezTo>
                  <a:lnTo>
                    <a:pt x="1249911" y="88669"/>
                  </a:lnTo>
                  <a:cubicBezTo>
                    <a:pt x="1249911" y="112186"/>
                    <a:pt x="1240569" y="134739"/>
                    <a:pt x="1223941" y="151368"/>
                  </a:cubicBezTo>
                  <a:cubicBezTo>
                    <a:pt x="1207312" y="167996"/>
                    <a:pt x="1184759" y="177338"/>
                    <a:pt x="1161242"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6" name="TextBox 16"/>
            <p:cNvSpPr txBox="1"/>
            <p:nvPr/>
          </p:nvSpPr>
          <p:spPr>
            <a:xfrm>
              <a:off x="0" y="-57150"/>
              <a:ext cx="1249911" cy="234488"/>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A Web Developer’s Toolbox</a:t>
              </a:r>
            </a:p>
          </p:txBody>
        </p:sp>
      </p:grpSp>
      <p:grpSp>
        <p:nvGrpSpPr>
          <p:cNvPr id="17" name="Group 17"/>
          <p:cNvGrpSpPr/>
          <p:nvPr/>
        </p:nvGrpSpPr>
        <p:grpSpPr>
          <a:xfrm>
            <a:off x="9763680" y="1366707"/>
            <a:ext cx="6647245" cy="6439248"/>
            <a:chOff x="0" y="0"/>
            <a:chExt cx="1079427" cy="1045651"/>
          </a:xfrm>
        </p:grpSpPr>
        <p:sp>
          <p:nvSpPr>
            <p:cNvPr id="18" name="Freeform 18"/>
            <p:cNvSpPr/>
            <p:nvPr/>
          </p:nvSpPr>
          <p:spPr>
            <a:xfrm>
              <a:off x="0" y="0"/>
              <a:ext cx="1079427" cy="1045651"/>
            </a:xfrm>
            <a:custGeom>
              <a:avLst/>
              <a:gdLst/>
              <a:ahLst/>
              <a:cxnLst/>
              <a:rect l="l" t="t" r="r" b="b"/>
              <a:pathLst>
                <a:path w="1079427" h="1045651">
                  <a:moveTo>
                    <a:pt x="0" y="0"/>
                  </a:moveTo>
                  <a:lnTo>
                    <a:pt x="1079427" y="0"/>
                  </a:lnTo>
                  <a:lnTo>
                    <a:pt x="1079427" y="1045651"/>
                  </a:lnTo>
                  <a:lnTo>
                    <a:pt x="0" y="1045651"/>
                  </a:lnTo>
                  <a:close/>
                </a:path>
              </a:pathLst>
            </a:custGeom>
            <a:blipFill>
              <a:blip r:embed="rId3"/>
              <a:stretch>
                <a:fillRect t="-10032" b="-10032"/>
              </a:stretch>
            </a:blipFill>
            <a:ln w="19050" cap="sq">
              <a:solidFill>
                <a:srgbClr val="05F8DD"/>
              </a:solidFill>
              <a:prstDash val="solid"/>
              <a:miter/>
            </a:ln>
          </p:spPr>
        </p:sp>
      </p:grpSp>
      <p:sp>
        <p:nvSpPr>
          <p:cNvPr id="19" name="TextBox 19"/>
          <p:cNvSpPr txBox="1"/>
          <p:nvPr/>
        </p:nvSpPr>
        <p:spPr>
          <a:xfrm>
            <a:off x="2012540" y="2835148"/>
            <a:ext cx="6199602" cy="1394367"/>
          </a:xfrm>
          <a:prstGeom prst="rect">
            <a:avLst/>
          </a:prstGeom>
        </p:spPr>
        <p:txBody>
          <a:bodyPr lIns="0" tIns="0" rIns="0" bIns="0" rtlCol="0" anchor="t">
            <a:spAutoFit/>
          </a:bodyPr>
          <a:lstStyle/>
          <a:p>
            <a:pPr algn="l">
              <a:lnSpc>
                <a:spcPts val="10487"/>
              </a:lnSpc>
            </a:pPr>
            <a:r>
              <a:rPr lang="en-US" sz="10701">
                <a:solidFill>
                  <a:srgbClr val="05F8DD"/>
                </a:solidFill>
                <a:latin typeface="Anton"/>
                <a:ea typeface="Anton"/>
                <a:cs typeface="Anton"/>
                <a:sym typeface="Anton"/>
              </a:rPr>
              <a:t>ABOUT PAGE</a:t>
            </a:r>
          </a:p>
        </p:txBody>
      </p:sp>
      <p:sp>
        <p:nvSpPr>
          <p:cNvPr id="20" name="TextBox 20"/>
          <p:cNvSpPr txBox="1"/>
          <p:nvPr/>
        </p:nvSpPr>
        <p:spPr>
          <a:xfrm>
            <a:off x="1737375" y="6942557"/>
            <a:ext cx="7536150" cy="1669646"/>
          </a:xfrm>
          <a:prstGeom prst="rect">
            <a:avLst/>
          </a:prstGeom>
        </p:spPr>
        <p:txBody>
          <a:bodyPr lIns="0" tIns="0" rIns="0" bIns="0" rtlCol="0" anchor="t">
            <a:spAutoFit/>
          </a:bodyPr>
          <a:lstStyle/>
          <a:p>
            <a:pPr algn="just">
              <a:lnSpc>
                <a:spcPts val="2663"/>
              </a:lnSpc>
              <a:spcBef>
                <a:spcPct val="0"/>
              </a:spcBef>
            </a:pPr>
            <a:r>
              <a:rPr lang="en-US" sz="1902">
                <a:solidFill>
                  <a:srgbClr val="05F8DD"/>
                </a:solidFill>
                <a:latin typeface="Poppins Light"/>
                <a:ea typeface="Poppins Light"/>
                <a:cs typeface="Poppins Light"/>
                <a:sym typeface="Poppins Light"/>
              </a:rPr>
              <a:t>The About Page provides detailed information about my background, interests, hobbies, and career goals. It helps visitors understand my journey as an aspiring Full Stack Developer and gives a more personal introduction beyond technical skills and academic qualifications.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635769" y="1268166"/>
            <a:ext cx="15016462" cy="1394367"/>
          </a:xfrm>
          <a:prstGeom prst="rect">
            <a:avLst/>
          </a:prstGeom>
        </p:spPr>
        <p:txBody>
          <a:bodyPr lIns="0" tIns="0" rIns="0" bIns="0" rtlCol="0" anchor="t">
            <a:spAutoFit/>
          </a:bodyPr>
          <a:lstStyle/>
          <a:p>
            <a:pPr algn="ctr">
              <a:lnSpc>
                <a:spcPts val="10487"/>
              </a:lnSpc>
            </a:pPr>
            <a:r>
              <a:rPr lang="en-US" sz="10701">
                <a:solidFill>
                  <a:srgbClr val="05F8DD"/>
                </a:solidFill>
                <a:latin typeface="Anton"/>
                <a:ea typeface="Anton"/>
                <a:cs typeface="Anton"/>
                <a:sym typeface="Anton"/>
              </a:rPr>
              <a:t>SKILLS PAGE</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933450" y="2643483"/>
            <a:ext cx="16190789" cy="0"/>
          </a:xfrm>
          <a:prstGeom prst="line">
            <a:avLst/>
          </a:prstGeom>
          <a:ln w="38100" cap="flat">
            <a:solidFill>
              <a:srgbClr val="05F8DD"/>
            </a:solidFill>
            <a:prstDash val="solid"/>
            <a:headEnd type="none" w="sm" len="sm"/>
            <a:tailEnd type="none" w="sm" len="sm"/>
          </a:ln>
        </p:spPr>
      </p:sp>
      <p:sp>
        <p:nvSpPr>
          <p:cNvPr id="8" name="AutoShape 8"/>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9" name="AutoShape 9"/>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10" name="Group 10"/>
          <p:cNvGrpSpPr/>
          <p:nvPr/>
        </p:nvGrpSpPr>
        <p:grpSpPr>
          <a:xfrm>
            <a:off x="1028700" y="1039566"/>
            <a:ext cx="654281" cy="654281"/>
            <a:chOff x="0" y="0"/>
            <a:chExt cx="647700" cy="647700"/>
          </a:xfrm>
        </p:grpSpPr>
        <p:sp>
          <p:nvSpPr>
            <p:cNvPr id="11" name="Freeform 11"/>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2" name="TextBox 12"/>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701862" y="8612203"/>
            <a:ext cx="654281" cy="654281"/>
            <a:chOff x="0" y="0"/>
            <a:chExt cx="647700" cy="647700"/>
          </a:xfrm>
        </p:grpSpPr>
        <p:sp>
          <p:nvSpPr>
            <p:cNvPr id="14" name="Freeform 14"/>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5" name="TextBox 15"/>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55840" y="2662533"/>
            <a:ext cx="4400913" cy="673331"/>
            <a:chOff x="0" y="0"/>
            <a:chExt cx="1159088" cy="177338"/>
          </a:xfrm>
        </p:grpSpPr>
        <p:sp>
          <p:nvSpPr>
            <p:cNvPr id="17" name="Freeform 17"/>
            <p:cNvSpPr/>
            <p:nvPr/>
          </p:nvSpPr>
          <p:spPr>
            <a:xfrm>
              <a:off x="0" y="0"/>
              <a:ext cx="1159088" cy="177338"/>
            </a:xfrm>
            <a:custGeom>
              <a:avLst/>
              <a:gdLst/>
              <a:ahLst/>
              <a:cxnLst/>
              <a:rect l="l" t="t" r="r" b="b"/>
              <a:pathLst>
                <a:path w="1159088" h="177338">
                  <a:moveTo>
                    <a:pt x="88669" y="0"/>
                  </a:moveTo>
                  <a:lnTo>
                    <a:pt x="1070419" y="0"/>
                  </a:lnTo>
                  <a:cubicBezTo>
                    <a:pt x="1093936" y="0"/>
                    <a:pt x="1116489" y="9342"/>
                    <a:pt x="1133118" y="25971"/>
                  </a:cubicBezTo>
                  <a:cubicBezTo>
                    <a:pt x="1149746" y="42599"/>
                    <a:pt x="1159088" y="65153"/>
                    <a:pt x="1159088" y="88669"/>
                  </a:cubicBezTo>
                  <a:lnTo>
                    <a:pt x="1159088" y="88669"/>
                  </a:lnTo>
                  <a:cubicBezTo>
                    <a:pt x="1159088" y="137640"/>
                    <a:pt x="1119390" y="177338"/>
                    <a:pt x="1070419"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8" name="TextBox 18"/>
            <p:cNvSpPr txBox="1"/>
            <p:nvPr/>
          </p:nvSpPr>
          <p:spPr>
            <a:xfrm>
              <a:off x="0" y="-57150"/>
              <a:ext cx="1159088" cy="234488"/>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From Idea to Live Website</a:t>
              </a:r>
            </a:p>
          </p:txBody>
        </p:sp>
      </p:grpSp>
      <p:grpSp>
        <p:nvGrpSpPr>
          <p:cNvPr id="19" name="Group 19"/>
          <p:cNvGrpSpPr/>
          <p:nvPr/>
        </p:nvGrpSpPr>
        <p:grpSpPr>
          <a:xfrm>
            <a:off x="13694180" y="1140765"/>
            <a:ext cx="2772207" cy="1420570"/>
            <a:chOff x="0" y="0"/>
            <a:chExt cx="1124368" cy="576163"/>
          </a:xfrm>
        </p:grpSpPr>
        <p:sp>
          <p:nvSpPr>
            <p:cNvPr id="20" name="Freeform 20"/>
            <p:cNvSpPr/>
            <p:nvPr/>
          </p:nvSpPr>
          <p:spPr>
            <a:xfrm>
              <a:off x="0" y="0"/>
              <a:ext cx="1124368" cy="576163"/>
            </a:xfrm>
            <a:custGeom>
              <a:avLst/>
              <a:gdLst/>
              <a:ahLst/>
              <a:cxnLst/>
              <a:rect l="l" t="t" r="r" b="b"/>
              <a:pathLst>
                <a:path w="1124368" h="576163">
                  <a:moveTo>
                    <a:pt x="0" y="0"/>
                  </a:moveTo>
                  <a:lnTo>
                    <a:pt x="1124368" y="0"/>
                  </a:lnTo>
                  <a:lnTo>
                    <a:pt x="1124368" y="576163"/>
                  </a:lnTo>
                  <a:lnTo>
                    <a:pt x="0" y="576163"/>
                  </a:lnTo>
                  <a:close/>
                </a:path>
              </a:pathLst>
            </a:custGeom>
            <a:blipFill>
              <a:blip r:embed="rId3"/>
              <a:stretch>
                <a:fillRect t="-14753" b="-14753"/>
              </a:stretch>
            </a:blipFill>
            <a:ln w="19050" cap="sq">
              <a:solidFill>
                <a:srgbClr val="05F8DD"/>
              </a:solidFill>
              <a:prstDash val="solid"/>
              <a:miter/>
            </a:ln>
          </p:spPr>
        </p:sp>
      </p:grpSp>
      <p:sp>
        <p:nvSpPr>
          <p:cNvPr id="21" name="TextBox 21"/>
          <p:cNvSpPr txBox="1"/>
          <p:nvPr/>
        </p:nvSpPr>
        <p:spPr>
          <a:xfrm>
            <a:off x="2471341" y="3333629"/>
            <a:ext cx="5467528" cy="5605714"/>
          </a:xfrm>
          <a:prstGeom prst="rect">
            <a:avLst/>
          </a:prstGeom>
        </p:spPr>
        <p:txBody>
          <a:bodyPr lIns="0" tIns="0" rIns="0" bIns="0" rtlCol="0" anchor="t">
            <a:spAutoFit/>
          </a:bodyPr>
          <a:lstStyle/>
          <a:p>
            <a:pPr algn="just">
              <a:lnSpc>
                <a:spcPts val="6411"/>
              </a:lnSpc>
            </a:pPr>
            <a:r>
              <a:rPr lang="en-US" sz="4579">
                <a:solidFill>
                  <a:srgbClr val="05F8DD"/>
                </a:solidFill>
                <a:latin typeface="Poppins Light"/>
                <a:ea typeface="Poppins Light"/>
                <a:cs typeface="Poppins Light"/>
                <a:sym typeface="Poppins Light"/>
              </a:rPr>
              <a:t>TECHNICAL SKILLS</a:t>
            </a:r>
          </a:p>
          <a:p>
            <a:pPr algn="just">
              <a:lnSpc>
                <a:spcPts val="6411"/>
              </a:lnSpc>
            </a:pPr>
            <a:r>
              <a:rPr lang="en-US" sz="4579">
                <a:solidFill>
                  <a:srgbClr val="05F8DD"/>
                </a:solidFill>
                <a:latin typeface="Poppins Light"/>
                <a:ea typeface="Poppins Light"/>
                <a:cs typeface="Poppins Light"/>
                <a:sym typeface="Poppins Light"/>
              </a:rPr>
              <a:t>💻 HTML5</a:t>
            </a:r>
          </a:p>
          <a:p>
            <a:pPr algn="just">
              <a:lnSpc>
                <a:spcPts val="6411"/>
              </a:lnSpc>
            </a:pPr>
            <a:r>
              <a:rPr lang="en-US" sz="4579">
                <a:solidFill>
                  <a:srgbClr val="05F8DD"/>
                </a:solidFill>
                <a:latin typeface="Poppins Light"/>
                <a:ea typeface="Poppins Light"/>
                <a:cs typeface="Poppins Light"/>
                <a:sym typeface="Poppins Light"/>
              </a:rPr>
              <a:t>🎨 CSS3</a:t>
            </a:r>
          </a:p>
          <a:p>
            <a:pPr algn="just">
              <a:lnSpc>
                <a:spcPts val="6411"/>
              </a:lnSpc>
            </a:pPr>
            <a:r>
              <a:rPr lang="en-US" sz="4579">
                <a:solidFill>
                  <a:srgbClr val="05F8DD"/>
                </a:solidFill>
                <a:latin typeface="Poppins Light"/>
                <a:ea typeface="Poppins Light"/>
                <a:cs typeface="Poppins Light"/>
                <a:sym typeface="Poppins Light"/>
              </a:rPr>
              <a:t>🐍 Python</a:t>
            </a:r>
          </a:p>
          <a:p>
            <a:pPr algn="just">
              <a:lnSpc>
                <a:spcPts val="6411"/>
              </a:lnSpc>
            </a:pPr>
            <a:r>
              <a:rPr lang="en-US" sz="4579">
                <a:solidFill>
                  <a:srgbClr val="05F8DD"/>
                </a:solidFill>
                <a:latin typeface="Poppins Light"/>
                <a:ea typeface="Poppins Light"/>
                <a:cs typeface="Poppins Light"/>
                <a:sym typeface="Poppins Light"/>
              </a:rPr>
              <a:t>🔧 Git &amp; GitHub</a:t>
            </a:r>
          </a:p>
          <a:p>
            <a:pPr algn="just">
              <a:lnSpc>
                <a:spcPts val="6411"/>
              </a:lnSpc>
            </a:pPr>
            <a:r>
              <a:rPr lang="en-US" sz="4579">
                <a:solidFill>
                  <a:srgbClr val="05F8DD"/>
                </a:solidFill>
                <a:latin typeface="Poppins Light"/>
                <a:ea typeface="Poppins Light"/>
                <a:cs typeface="Poppins Light"/>
                <a:sym typeface="Poppins Light"/>
              </a:rPr>
              <a:t>📝 VS Code</a:t>
            </a:r>
          </a:p>
          <a:p>
            <a:pPr algn="just">
              <a:lnSpc>
                <a:spcPts val="6411"/>
              </a:lnSpc>
              <a:spcBef>
                <a:spcPct val="0"/>
              </a:spcBef>
            </a:pPr>
            <a:endParaRPr lang="en-US" sz="4579">
              <a:solidFill>
                <a:srgbClr val="05F8DD"/>
              </a:solidFill>
              <a:latin typeface="Poppins Light"/>
              <a:ea typeface="Poppins Light"/>
              <a:cs typeface="Poppins Light"/>
              <a:sym typeface="Poppins Light"/>
            </a:endParaRPr>
          </a:p>
        </p:txBody>
      </p:sp>
      <p:sp>
        <p:nvSpPr>
          <p:cNvPr id="22" name="TextBox 22"/>
          <p:cNvSpPr txBox="1"/>
          <p:nvPr/>
        </p:nvSpPr>
        <p:spPr>
          <a:xfrm>
            <a:off x="8561613" y="3324104"/>
            <a:ext cx="5860877" cy="4295060"/>
          </a:xfrm>
          <a:prstGeom prst="rect">
            <a:avLst/>
          </a:prstGeom>
        </p:spPr>
        <p:txBody>
          <a:bodyPr lIns="0" tIns="0" rIns="0" bIns="0" rtlCol="0" anchor="t">
            <a:spAutoFit/>
          </a:bodyPr>
          <a:lstStyle/>
          <a:p>
            <a:pPr algn="just">
              <a:lnSpc>
                <a:spcPts val="6872"/>
              </a:lnSpc>
            </a:pPr>
            <a:r>
              <a:rPr lang="en-US" sz="4909">
                <a:solidFill>
                  <a:srgbClr val="05F8DD"/>
                </a:solidFill>
                <a:latin typeface="Poppins Light"/>
                <a:ea typeface="Poppins Light"/>
                <a:cs typeface="Poppins Light"/>
                <a:sym typeface="Poppins Light"/>
              </a:rPr>
              <a:t>SOFT SKILLS</a:t>
            </a:r>
          </a:p>
          <a:p>
            <a:pPr algn="just">
              <a:lnSpc>
                <a:spcPts val="6872"/>
              </a:lnSpc>
            </a:pPr>
            <a:r>
              <a:rPr lang="en-US" sz="4909">
                <a:solidFill>
                  <a:srgbClr val="05F8DD"/>
                </a:solidFill>
                <a:latin typeface="Poppins Light"/>
                <a:ea typeface="Poppins Light"/>
                <a:cs typeface="Poppins Light"/>
                <a:sym typeface="Poppins Light"/>
              </a:rPr>
              <a:t>✔ Problem Solving</a:t>
            </a:r>
          </a:p>
          <a:p>
            <a:pPr algn="just">
              <a:lnSpc>
                <a:spcPts val="6872"/>
              </a:lnSpc>
            </a:pPr>
            <a:r>
              <a:rPr lang="en-US" sz="4909">
                <a:solidFill>
                  <a:srgbClr val="05F8DD"/>
                </a:solidFill>
                <a:latin typeface="Poppins Light"/>
                <a:ea typeface="Poppins Light"/>
                <a:cs typeface="Poppins Light"/>
                <a:sym typeface="Poppins Light"/>
              </a:rPr>
              <a:t>✔ Self Learning</a:t>
            </a:r>
          </a:p>
          <a:p>
            <a:pPr algn="just">
              <a:lnSpc>
                <a:spcPts val="6872"/>
              </a:lnSpc>
            </a:pPr>
            <a:r>
              <a:rPr lang="en-US" sz="4909">
                <a:solidFill>
                  <a:srgbClr val="05F8DD"/>
                </a:solidFill>
                <a:latin typeface="Poppins Light"/>
                <a:ea typeface="Poppins Light"/>
                <a:cs typeface="Poppins Light"/>
                <a:sym typeface="Poppins Light"/>
              </a:rPr>
              <a:t>✔ Team </a:t>
            </a:r>
          </a:p>
          <a:p>
            <a:pPr algn="just">
              <a:lnSpc>
                <a:spcPts val="6872"/>
              </a:lnSpc>
              <a:spcBef>
                <a:spcPct val="0"/>
              </a:spcBef>
            </a:pPr>
            <a:endParaRPr lang="en-US" sz="4909">
              <a:solidFill>
                <a:srgbClr val="05F8DD"/>
              </a:solidFill>
              <a:latin typeface="Poppins Light"/>
              <a:ea typeface="Poppins Light"/>
              <a:cs typeface="Poppins Light"/>
              <a:sym typeface="Poppi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760883" y="1410218"/>
            <a:ext cx="10820583" cy="1394367"/>
          </a:xfrm>
          <a:prstGeom prst="rect">
            <a:avLst/>
          </a:prstGeom>
        </p:spPr>
        <p:txBody>
          <a:bodyPr lIns="0" tIns="0" rIns="0" bIns="0" rtlCol="0" anchor="t">
            <a:spAutoFit/>
          </a:bodyPr>
          <a:lstStyle/>
          <a:p>
            <a:pPr algn="l">
              <a:lnSpc>
                <a:spcPts val="10487"/>
              </a:lnSpc>
            </a:pPr>
            <a:r>
              <a:rPr lang="en-US" sz="10701">
                <a:solidFill>
                  <a:srgbClr val="05F8DD"/>
                </a:solidFill>
                <a:latin typeface="Anton"/>
                <a:ea typeface="Anton"/>
                <a:cs typeface="Anton"/>
                <a:sym typeface="Anton"/>
              </a:rPr>
              <a:t> PROJECT SHOWCASE</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7298228" y="5431979"/>
            <a:ext cx="9124200" cy="1442897"/>
            <a:chOff x="0" y="0"/>
            <a:chExt cx="2403082" cy="380022"/>
          </a:xfrm>
        </p:grpSpPr>
        <p:sp>
          <p:nvSpPr>
            <p:cNvPr id="16" name="Freeform 16"/>
            <p:cNvSpPr/>
            <p:nvPr/>
          </p:nvSpPr>
          <p:spPr>
            <a:xfrm>
              <a:off x="0" y="0"/>
              <a:ext cx="2403082" cy="380022"/>
            </a:xfrm>
            <a:custGeom>
              <a:avLst/>
              <a:gdLst/>
              <a:ahLst/>
              <a:cxnLst/>
              <a:rect l="l" t="t" r="r" b="b"/>
              <a:pathLst>
                <a:path w="2403082" h="380022">
                  <a:moveTo>
                    <a:pt x="84850" y="0"/>
                  </a:moveTo>
                  <a:lnTo>
                    <a:pt x="2318231" y="0"/>
                  </a:lnTo>
                  <a:cubicBezTo>
                    <a:pt x="2340735" y="0"/>
                    <a:pt x="2362317" y="8940"/>
                    <a:pt x="2378229" y="24852"/>
                  </a:cubicBezTo>
                  <a:cubicBezTo>
                    <a:pt x="2394142" y="40765"/>
                    <a:pt x="2403082" y="62347"/>
                    <a:pt x="2403082" y="84850"/>
                  </a:cubicBezTo>
                  <a:lnTo>
                    <a:pt x="2403082" y="295172"/>
                  </a:lnTo>
                  <a:cubicBezTo>
                    <a:pt x="2403082" y="317676"/>
                    <a:pt x="2394142" y="339258"/>
                    <a:pt x="2378229" y="355170"/>
                  </a:cubicBezTo>
                  <a:cubicBezTo>
                    <a:pt x="2362317" y="371083"/>
                    <a:pt x="2340735" y="380022"/>
                    <a:pt x="2318231" y="380022"/>
                  </a:cubicBezTo>
                  <a:lnTo>
                    <a:pt x="84850" y="380022"/>
                  </a:lnTo>
                  <a:cubicBezTo>
                    <a:pt x="37989" y="380022"/>
                    <a:pt x="0" y="342033"/>
                    <a:pt x="0" y="295172"/>
                  </a:cubicBezTo>
                  <a:lnTo>
                    <a:pt x="0" y="84850"/>
                  </a:lnTo>
                  <a:cubicBezTo>
                    <a:pt x="0" y="62347"/>
                    <a:pt x="8940" y="40765"/>
                    <a:pt x="24852" y="24852"/>
                  </a:cubicBezTo>
                  <a:cubicBezTo>
                    <a:pt x="40765" y="8940"/>
                    <a:pt x="62347" y="0"/>
                    <a:pt x="84850" y="0"/>
                  </a:cubicBezTo>
                  <a:close/>
                </a:path>
              </a:pathLst>
            </a:custGeom>
            <a:ln w="19050" cap="rnd">
              <a:solidFill>
                <a:srgbClr val="05F8DD"/>
              </a:solidFill>
              <a:prstDash val="solid"/>
              <a:round/>
            </a:ln>
          </p:spPr>
        </p:sp>
        <p:sp>
          <p:nvSpPr>
            <p:cNvPr id="17" name="TextBox 17"/>
            <p:cNvSpPr txBox="1"/>
            <p:nvPr/>
          </p:nvSpPr>
          <p:spPr>
            <a:xfrm>
              <a:off x="0" y="-57150"/>
              <a:ext cx="2403082" cy="437172"/>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Each project demonstrates different technical concepts and practical implementation skills.</a:t>
              </a:r>
            </a:p>
          </p:txBody>
        </p:sp>
      </p:grpSp>
      <p:grpSp>
        <p:nvGrpSpPr>
          <p:cNvPr id="18" name="Group 18"/>
          <p:cNvGrpSpPr/>
          <p:nvPr/>
        </p:nvGrpSpPr>
        <p:grpSpPr>
          <a:xfrm>
            <a:off x="1464582" y="2655089"/>
            <a:ext cx="5154163" cy="6219905"/>
            <a:chOff x="0" y="0"/>
            <a:chExt cx="798515" cy="963626"/>
          </a:xfrm>
        </p:grpSpPr>
        <p:sp>
          <p:nvSpPr>
            <p:cNvPr id="19" name="Freeform 19"/>
            <p:cNvSpPr/>
            <p:nvPr/>
          </p:nvSpPr>
          <p:spPr>
            <a:xfrm>
              <a:off x="0" y="0"/>
              <a:ext cx="798515" cy="963626"/>
            </a:xfrm>
            <a:custGeom>
              <a:avLst/>
              <a:gdLst/>
              <a:ahLst/>
              <a:cxnLst/>
              <a:rect l="l" t="t" r="r" b="b"/>
              <a:pathLst>
                <a:path w="798515" h="963626">
                  <a:moveTo>
                    <a:pt x="0" y="0"/>
                  </a:moveTo>
                  <a:lnTo>
                    <a:pt x="798515" y="0"/>
                  </a:lnTo>
                  <a:lnTo>
                    <a:pt x="798515" y="963626"/>
                  </a:lnTo>
                  <a:lnTo>
                    <a:pt x="0" y="963626"/>
                  </a:lnTo>
                  <a:close/>
                </a:path>
              </a:pathLst>
            </a:custGeom>
            <a:blipFill>
              <a:blip r:embed="rId3"/>
              <a:stretch>
                <a:fillRect l="-40564" r="-40564"/>
              </a:stretch>
            </a:blipFill>
            <a:ln w="19050" cap="sq">
              <a:solidFill>
                <a:srgbClr val="FFFFFF"/>
              </a:solidFill>
              <a:prstDash val="solid"/>
              <a:miter/>
            </a:ln>
          </p:spPr>
        </p:sp>
      </p:grpSp>
      <p:sp>
        <p:nvSpPr>
          <p:cNvPr id="20" name="TextBox 20"/>
          <p:cNvSpPr txBox="1"/>
          <p:nvPr/>
        </p:nvSpPr>
        <p:spPr>
          <a:xfrm>
            <a:off x="7018795" y="2833160"/>
            <a:ext cx="9683067" cy="2737833"/>
          </a:xfrm>
          <a:prstGeom prst="rect">
            <a:avLst/>
          </a:prstGeom>
        </p:spPr>
        <p:txBody>
          <a:bodyPr lIns="0" tIns="0" rIns="0" bIns="0" rtlCol="0" anchor="t">
            <a:spAutoFit/>
          </a:bodyPr>
          <a:lstStyle/>
          <a:p>
            <a:pPr algn="just">
              <a:lnSpc>
                <a:spcPts val="4364"/>
              </a:lnSpc>
              <a:spcBef>
                <a:spcPct val="0"/>
              </a:spcBef>
            </a:pPr>
            <a:r>
              <a:rPr lang="en-US" sz="3117">
                <a:solidFill>
                  <a:srgbClr val="05F8DD"/>
                </a:solidFill>
                <a:latin typeface="Poppins Light"/>
                <a:ea typeface="Poppins Light"/>
                <a:cs typeface="Poppins Light"/>
                <a:sym typeface="Poppins Light"/>
              </a:rPr>
              <a:t>🛒 E-Commerce Product Showcase Website</a:t>
            </a:r>
          </a:p>
          <a:p>
            <a:pPr algn="just">
              <a:lnSpc>
                <a:spcPts val="4364"/>
              </a:lnSpc>
              <a:spcBef>
                <a:spcPct val="0"/>
              </a:spcBef>
            </a:pPr>
            <a:r>
              <a:rPr lang="en-US" sz="3117">
                <a:solidFill>
                  <a:srgbClr val="05F8DD"/>
                </a:solidFill>
                <a:latin typeface="Poppins Light"/>
                <a:ea typeface="Poppins Light"/>
                <a:cs typeface="Poppins Light"/>
                <a:sym typeface="Poppins Light"/>
              </a:rPr>
              <a:t>🌐 Personal Portfolio Website</a:t>
            </a:r>
          </a:p>
          <a:p>
            <a:pPr algn="just">
              <a:lnSpc>
                <a:spcPts val="4364"/>
              </a:lnSpc>
              <a:spcBef>
                <a:spcPct val="0"/>
              </a:spcBef>
            </a:pPr>
            <a:r>
              <a:rPr lang="en-US" sz="3117">
                <a:solidFill>
                  <a:srgbClr val="05F8DD"/>
                </a:solidFill>
                <a:latin typeface="Poppins Light"/>
                <a:ea typeface="Poppins Light"/>
                <a:cs typeface="Poppins Light"/>
                <a:sym typeface="Poppins Light"/>
              </a:rPr>
              <a:t>🎲 Ludo Game UI</a:t>
            </a:r>
          </a:p>
          <a:p>
            <a:pPr algn="just">
              <a:lnSpc>
                <a:spcPts val="4364"/>
              </a:lnSpc>
              <a:spcBef>
                <a:spcPct val="0"/>
              </a:spcBef>
            </a:pPr>
            <a:r>
              <a:rPr lang="en-US" sz="3117">
                <a:solidFill>
                  <a:srgbClr val="05F8DD"/>
                </a:solidFill>
                <a:latin typeface="Poppins Light"/>
                <a:ea typeface="Poppins Light"/>
                <a:cs typeface="Poppins Light"/>
                <a:sym typeface="Poppins Light"/>
              </a:rPr>
              <a:t>💾 Hybrid Memory Design Using ECC, EDC &amp; BIST</a:t>
            </a:r>
          </a:p>
          <a:p>
            <a:pPr algn="just">
              <a:lnSpc>
                <a:spcPts val="4364"/>
              </a:lnSpc>
              <a:spcBef>
                <a:spcPct val="0"/>
              </a:spcBef>
            </a:pPr>
            <a:endParaRPr lang="en-US" sz="3117">
              <a:solidFill>
                <a:srgbClr val="05F8DD"/>
              </a:solidFill>
              <a:latin typeface="Poppins Light"/>
              <a:ea typeface="Poppins Light"/>
              <a:cs typeface="Poppins Light"/>
              <a:sym typeface="Poppins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8417854" y="1922447"/>
            <a:ext cx="7927754" cy="2718342"/>
          </a:xfrm>
          <a:prstGeom prst="rect">
            <a:avLst/>
          </a:prstGeom>
        </p:spPr>
        <p:txBody>
          <a:bodyPr lIns="0" tIns="0" rIns="0" bIns="0" rtlCol="0" anchor="t">
            <a:spAutoFit/>
          </a:bodyPr>
          <a:lstStyle/>
          <a:p>
            <a:pPr algn="l">
              <a:lnSpc>
                <a:spcPts val="10487"/>
              </a:lnSpc>
            </a:pPr>
            <a:r>
              <a:rPr lang="en-US" sz="10701">
                <a:solidFill>
                  <a:srgbClr val="05F8DD"/>
                </a:solidFill>
                <a:latin typeface="Anton"/>
                <a:ea typeface="Anton"/>
                <a:cs typeface="Anton"/>
                <a:sym typeface="Anton"/>
              </a:rPr>
              <a:t>HTML CONCEPTS USED </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355840" y="2651495"/>
            <a:ext cx="6256227" cy="6287848"/>
            <a:chOff x="0" y="0"/>
            <a:chExt cx="969253" cy="974152"/>
          </a:xfrm>
        </p:grpSpPr>
        <p:sp>
          <p:nvSpPr>
            <p:cNvPr id="16" name="Freeform 16"/>
            <p:cNvSpPr/>
            <p:nvPr/>
          </p:nvSpPr>
          <p:spPr>
            <a:xfrm>
              <a:off x="0" y="0"/>
              <a:ext cx="969253" cy="974152"/>
            </a:xfrm>
            <a:custGeom>
              <a:avLst/>
              <a:gdLst/>
              <a:ahLst/>
              <a:cxnLst/>
              <a:rect l="l" t="t" r="r" b="b"/>
              <a:pathLst>
                <a:path w="969253" h="974152">
                  <a:moveTo>
                    <a:pt x="0" y="0"/>
                  </a:moveTo>
                  <a:lnTo>
                    <a:pt x="969253" y="0"/>
                  </a:lnTo>
                  <a:lnTo>
                    <a:pt x="969253" y="974152"/>
                  </a:lnTo>
                  <a:lnTo>
                    <a:pt x="0" y="974152"/>
                  </a:lnTo>
                  <a:close/>
                </a:path>
              </a:pathLst>
            </a:custGeom>
            <a:blipFill>
              <a:blip r:embed="rId3"/>
              <a:stretch>
                <a:fillRect l="-252" r="-252"/>
              </a:stretch>
            </a:blipFill>
            <a:ln w="19050" cap="sq">
              <a:solidFill>
                <a:srgbClr val="05F8DD"/>
              </a:solidFill>
              <a:prstDash val="solid"/>
              <a:miter/>
            </a:ln>
          </p:spPr>
        </p:sp>
      </p:grpSp>
      <p:sp>
        <p:nvSpPr>
          <p:cNvPr id="17" name="TextBox 17"/>
          <p:cNvSpPr txBox="1"/>
          <p:nvPr/>
        </p:nvSpPr>
        <p:spPr>
          <a:xfrm>
            <a:off x="8454306" y="4564589"/>
            <a:ext cx="5136783" cy="4248216"/>
          </a:xfrm>
          <a:prstGeom prst="rect">
            <a:avLst/>
          </a:prstGeom>
        </p:spPr>
        <p:txBody>
          <a:bodyPr lIns="0" tIns="0" rIns="0" bIns="0" rtlCol="0" anchor="t">
            <a:spAutoFit/>
          </a:bodyPr>
          <a:lstStyle/>
          <a:p>
            <a:pPr algn="just">
              <a:lnSpc>
                <a:spcPts val="3777"/>
              </a:lnSpc>
            </a:pPr>
            <a:r>
              <a:rPr lang="en-US" sz="2698">
                <a:solidFill>
                  <a:srgbClr val="05F8DD"/>
                </a:solidFill>
                <a:latin typeface="Poppins Light"/>
                <a:ea typeface="Poppins Light"/>
                <a:cs typeface="Poppins Light"/>
                <a:sym typeface="Poppins Light"/>
              </a:rPr>
              <a:t>CORE HTML FEATURES</a:t>
            </a:r>
          </a:p>
          <a:p>
            <a:pPr algn="just">
              <a:lnSpc>
                <a:spcPts val="3777"/>
              </a:lnSpc>
            </a:pPr>
            <a:r>
              <a:rPr lang="en-US" sz="2698">
                <a:solidFill>
                  <a:srgbClr val="05F8DD"/>
                </a:solidFill>
                <a:latin typeface="Poppins Light"/>
                <a:ea typeface="Poppins Light"/>
                <a:cs typeface="Poppins Light"/>
                <a:sym typeface="Poppins Light"/>
              </a:rPr>
              <a:t>• Hyperlinks</a:t>
            </a:r>
          </a:p>
          <a:p>
            <a:pPr algn="just">
              <a:lnSpc>
                <a:spcPts val="3777"/>
              </a:lnSpc>
            </a:pPr>
            <a:r>
              <a:rPr lang="en-US" sz="2698">
                <a:solidFill>
                  <a:srgbClr val="05F8DD"/>
                </a:solidFill>
                <a:latin typeface="Poppins Light"/>
                <a:ea typeface="Poppins Light"/>
                <a:cs typeface="Poppins Light"/>
                <a:sym typeface="Poppins Light"/>
              </a:rPr>
              <a:t>• Tables</a:t>
            </a:r>
          </a:p>
          <a:p>
            <a:pPr algn="just">
              <a:lnSpc>
                <a:spcPts val="3777"/>
              </a:lnSpc>
            </a:pPr>
            <a:r>
              <a:rPr lang="en-US" sz="2698">
                <a:solidFill>
                  <a:srgbClr val="05F8DD"/>
                </a:solidFill>
                <a:latin typeface="Poppins Light"/>
                <a:ea typeface="Poppins Light"/>
                <a:cs typeface="Poppins Light"/>
                <a:sym typeface="Poppins Light"/>
              </a:rPr>
              <a:t>• Lists</a:t>
            </a:r>
          </a:p>
          <a:p>
            <a:pPr algn="just">
              <a:lnSpc>
                <a:spcPts val="3777"/>
              </a:lnSpc>
            </a:pPr>
            <a:r>
              <a:rPr lang="en-US" sz="2698">
                <a:solidFill>
                  <a:srgbClr val="05F8DD"/>
                </a:solidFill>
                <a:latin typeface="Poppins Light"/>
                <a:ea typeface="Poppins Light"/>
                <a:cs typeface="Poppins Light"/>
                <a:sym typeface="Poppins Light"/>
              </a:rPr>
              <a:t>• Images</a:t>
            </a:r>
          </a:p>
          <a:p>
            <a:pPr algn="just">
              <a:lnSpc>
                <a:spcPts val="3777"/>
              </a:lnSpc>
            </a:pPr>
            <a:r>
              <a:rPr lang="en-US" sz="2698">
                <a:solidFill>
                  <a:srgbClr val="05F8DD"/>
                </a:solidFill>
                <a:latin typeface="Poppins Light"/>
                <a:ea typeface="Poppins Light"/>
                <a:cs typeface="Poppins Light"/>
                <a:sym typeface="Poppins Light"/>
              </a:rPr>
              <a:t>• Details &amp; Summary Tags</a:t>
            </a:r>
          </a:p>
          <a:p>
            <a:pPr algn="just">
              <a:lnSpc>
                <a:spcPts val="3777"/>
              </a:lnSpc>
            </a:pPr>
            <a:r>
              <a:rPr lang="en-US" sz="2698">
                <a:solidFill>
                  <a:srgbClr val="05F8DD"/>
                </a:solidFill>
                <a:latin typeface="Poppins Light"/>
                <a:ea typeface="Poppins Light"/>
                <a:cs typeface="Poppins Light"/>
                <a:sym typeface="Poppins Light"/>
              </a:rPr>
              <a:t>• Multi-Page Navigation</a:t>
            </a:r>
          </a:p>
          <a:p>
            <a:pPr algn="just">
              <a:lnSpc>
                <a:spcPts val="3777"/>
              </a:lnSpc>
            </a:pPr>
            <a:r>
              <a:rPr lang="en-US" sz="2698">
                <a:solidFill>
                  <a:srgbClr val="05F8DD"/>
                </a:solidFill>
                <a:latin typeface="Poppins Light"/>
                <a:ea typeface="Poppins Light"/>
                <a:cs typeface="Poppins Light"/>
                <a:sym typeface="Poppins Light"/>
              </a:rPr>
              <a:t>• Semantic Structure</a:t>
            </a:r>
          </a:p>
          <a:p>
            <a:pPr algn="just">
              <a:lnSpc>
                <a:spcPts val="3777"/>
              </a:lnSpc>
              <a:spcBef>
                <a:spcPct val="0"/>
              </a:spcBef>
            </a:pPr>
            <a:endParaRPr lang="en-US" sz="2698">
              <a:solidFill>
                <a:srgbClr val="05F8DD"/>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505450" y="1575481"/>
            <a:ext cx="10815727" cy="1394367"/>
          </a:xfrm>
          <a:prstGeom prst="rect">
            <a:avLst/>
          </a:prstGeom>
        </p:spPr>
        <p:txBody>
          <a:bodyPr lIns="0" tIns="0" rIns="0" bIns="0" rtlCol="0" anchor="t">
            <a:spAutoFit/>
          </a:bodyPr>
          <a:lstStyle/>
          <a:p>
            <a:pPr algn="ctr">
              <a:lnSpc>
                <a:spcPts val="10487"/>
              </a:lnSpc>
            </a:pPr>
            <a:r>
              <a:rPr lang="en-US" sz="10701">
                <a:solidFill>
                  <a:srgbClr val="05F8DD"/>
                </a:solidFill>
                <a:latin typeface="Anton"/>
                <a:ea typeface="Anton"/>
                <a:cs typeface="Anton"/>
                <a:sym typeface="Anton"/>
              </a:rPr>
              <a:t>CHALLENGES FACED</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146304" y="3274648"/>
            <a:ext cx="16209839" cy="0"/>
          </a:xfrm>
          <a:prstGeom prst="line">
            <a:avLst/>
          </a:prstGeom>
          <a:ln w="38100" cap="flat">
            <a:solidFill>
              <a:srgbClr val="05F8DD"/>
            </a:solidFill>
            <a:prstDash val="solid"/>
            <a:headEnd type="none" w="sm" len="sm"/>
            <a:tailEnd type="none" w="sm" len="sm"/>
          </a:ln>
        </p:spPr>
      </p:sp>
      <p:sp>
        <p:nvSpPr>
          <p:cNvPr id="8" name="AutoShape 8"/>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9" name="AutoShape 9"/>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10" name="Group 10"/>
          <p:cNvGrpSpPr/>
          <p:nvPr/>
        </p:nvGrpSpPr>
        <p:grpSpPr>
          <a:xfrm>
            <a:off x="1028700" y="1039566"/>
            <a:ext cx="654281" cy="654281"/>
            <a:chOff x="0" y="0"/>
            <a:chExt cx="647700" cy="647700"/>
          </a:xfrm>
        </p:grpSpPr>
        <p:sp>
          <p:nvSpPr>
            <p:cNvPr id="11" name="Freeform 11"/>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2" name="TextBox 12"/>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701862" y="8612203"/>
            <a:ext cx="654281" cy="654281"/>
            <a:chOff x="0" y="0"/>
            <a:chExt cx="647700" cy="647700"/>
          </a:xfrm>
        </p:grpSpPr>
        <p:sp>
          <p:nvSpPr>
            <p:cNvPr id="14" name="Freeform 14"/>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5" name="TextBox 15"/>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3846035"/>
            <a:ext cx="6405314" cy="682856"/>
            <a:chOff x="0" y="0"/>
            <a:chExt cx="1686996" cy="179847"/>
          </a:xfrm>
        </p:grpSpPr>
        <p:sp>
          <p:nvSpPr>
            <p:cNvPr id="17" name="Freeform 17"/>
            <p:cNvSpPr/>
            <p:nvPr/>
          </p:nvSpPr>
          <p:spPr>
            <a:xfrm>
              <a:off x="0" y="0"/>
              <a:ext cx="1686996" cy="179847"/>
            </a:xfrm>
            <a:custGeom>
              <a:avLst/>
              <a:gdLst/>
              <a:ahLst/>
              <a:cxnLst/>
              <a:rect l="l" t="t" r="r" b="b"/>
              <a:pathLst>
                <a:path w="1686996" h="179847">
                  <a:moveTo>
                    <a:pt x="89923" y="0"/>
                  </a:moveTo>
                  <a:lnTo>
                    <a:pt x="1597073" y="0"/>
                  </a:lnTo>
                  <a:cubicBezTo>
                    <a:pt x="1620922" y="0"/>
                    <a:pt x="1643794" y="9474"/>
                    <a:pt x="1660658" y="26338"/>
                  </a:cubicBezTo>
                  <a:cubicBezTo>
                    <a:pt x="1677522" y="43202"/>
                    <a:pt x="1686996" y="66074"/>
                    <a:pt x="1686996" y="89923"/>
                  </a:cubicBezTo>
                  <a:lnTo>
                    <a:pt x="1686996" y="89923"/>
                  </a:lnTo>
                  <a:cubicBezTo>
                    <a:pt x="1686996" y="113773"/>
                    <a:pt x="1677522" y="136645"/>
                    <a:pt x="1660658" y="153509"/>
                  </a:cubicBezTo>
                  <a:cubicBezTo>
                    <a:pt x="1643794" y="170373"/>
                    <a:pt x="1620922" y="179847"/>
                    <a:pt x="1597073" y="179847"/>
                  </a:cubicBezTo>
                  <a:lnTo>
                    <a:pt x="89923" y="179847"/>
                  </a:lnTo>
                  <a:cubicBezTo>
                    <a:pt x="66074" y="179847"/>
                    <a:pt x="43202" y="170373"/>
                    <a:pt x="26338" y="153509"/>
                  </a:cubicBezTo>
                  <a:cubicBezTo>
                    <a:pt x="9474" y="136645"/>
                    <a:pt x="0" y="113773"/>
                    <a:pt x="0" y="89923"/>
                  </a:cubicBezTo>
                  <a:lnTo>
                    <a:pt x="0" y="89923"/>
                  </a:lnTo>
                  <a:cubicBezTo>
                    <a:pt x="0" y="66074"/>
                    <a:pt x="9474" y="43202"/>
                    <a:pt x="26338" y="26338"/>
                  </a:cubicBezTo>
                  <a:cubicBezTo>
                    <a:pt x="43202" y="9474"/>
                    <a:pt x="66074" y="0"/>
                    <a:pt x="89923" y="0"/>
                  </a:cubicBezTo>
                  <a:close/>
                </a:path>
              </a:pathLst>
            </a:custGeom>
            <a:ln w="19050" cap="rnd">
              <a:solidFill>
                <a:srgbClr val="05F8DD"/>
              </a:solidFill>
              <a:prstDash val="solid"/>
              <a:round/>
            </a:ln>
          </p:spPr>
        </p:sp>
        <p:sp>
          <p:nvSpPr>
            <p:cNvPr id="18" name="TextBox 18"/>
            <p:cNvSpPr txBox="1"/>
            <p:nvPr/>
          </p:nvSpPr>
          <p:spPr>
            <a:xfrm>
              <a:off x="0" y="-57150"/>
              <a:ext cx="1686996" cy="236997"/>
            </a:xfrm>
            <a:prstGeom prst="rect">
              <a:avLst/>
            </a:prstGeom>
          </p:spPr>
          <p:txBody>
            <a:bodyPr lIns="50800" tIns="50800" rIns="50800" bIns="50800" rtlCol="0" anchor="ctr"/>
            <a:lstStyle/>
            <a:p>
              <a:pPr algn="ctr">
                <a:lnSpc>
                  <a:spcPts val="3079"/>
                </a:lnSpc>
              </a:pPr>
              <a:r>
                <a:rPr lang="en-US" sz="2199" b="1">
                  <a:solidFill>
                    <a:srgbClr val="05F8DD"/>
                  </a:solidFill>
                  <a:latin typeface="Poppins Medium"/>
                  <a:ea typeface="Poppins Medium"/>
                  <a:cs typeface="Poppins Medium"/>
                  <a:sym typeface="Poppins Medium"/>
                </a:rPr>
                <a:t>Powering the Website Behind the Scenes</a:t>
              </a:r>
            </a:p>
          </p:txBody>
        </p:sp>
      </p:grpSp>
      <p:sp>
        <p:nvSpPr>
          <p:cNvPr id="19" name="Freeform 19"/>
          <p:cNvSpPr/>
          <p:nvPr/>
        </p:nvSpPr>
        <p:spPr>
          <a:xfrm>
            <a:off x="12399541" y="3846035"/>
            <a:ext cx="4065536" cy="3748424"/>
          </a:xfrm>
          <a:custGeom>
            <a:avLst/>
            <a:gdLst/>
            <a:ahLst/>
            <a:cxnLst/>
            <a:rect l="l" t="t" r="r" b="b"/>
            <a:pathLst>
              <a:path w="4065536" h="3748424">
                <a:moveTo>
                  <a:pt x="0" y="0"/>
                </a:moveTo>
                <a:lnTo>
                  <a:pt x="4065536" y="0"/>
                </a:lnTo>
                <a:lnTo>
                  <a:pt x="4065536" y="3748424"/>
                </a:lnTo>
                <a:lnTo>
                  <a:pt x="0" y="3748424"/>
                </a:lnTo>
                <a:lnTo>
                  <a:pt x="0" y="0"/>
                </a:lnTo>
                <a:close/>
              </a:path>
            </a:pathLst>
          </a:custGeom>
          <a:blipFill>
            <a:blip r:embed="rId3"/>
            <a:stretch>
              <a:fillRect/>
            </a:stretch>
          </a:blipFill>
        </p:spPr>
      </p:sp>
      <p:sp>
        <p:nvSpPr>
          <p:cNvPr id="20" name="TextBox 20"/>
          <p:cNvSpPr txBox="1"/>
          <p:nvPr/>
        </p:nvSpPr>
        <p:spPr>
          <a:xfrm>
            <a:off x="1590237" y="4995616"/>
            <a:ext cx="10287578" cy="2889623"/>
          </a:xfrm>
          <a:prstGeom prst="rect">
            <a:avLst/>
          </a:prstGeom>
        </p:spPr>
        <p:txBody>
          <a:bodyPr lIns="0" tIns="0" rIns="0" bIns="0" rtlCol="0" anchor="t">
            <a:spAutoFit/>
          </a:bodyPr>
          <a:lstStyle/>
          <a:p>
            <a:pPr algn="just">
              <a:lnSpc>
                <a:spcPts val="3839"/>
              </a:lnSpc>
              <a:spcBef>
                <a:spcPct val="0"/>
              </a:spcBef>
            </a:pPr>
            <a:r>
              <a:rPr lang="en-US" sz="2742">
                <a:solidFill>
                  <a:srgbClr val="05F8DD"/>
                </a:solidFill>
                <a:latin typeface="Poppins Light"/>
                <a:ea typeface="Poppins Light"/>
                <a:cs typeface="Poppins Light"/>
                <a:sym typeface="Poppins Light"/>
              </a:rPr>
              <a:t>During the development process, I faced challenges in organizing multiple pages, managing navigation links, and designing a structured layout using only HTML. These challenges helped me improve my problem-solving abilities and strengthened my understanding of web page architecture and content organization.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685400" y="2723170"/>
            <a:ext cx="15016462" cy="1394367"/>
          </a:xfrm>
          <a:prstGeom prst="rect">
            <a:avLst/>
          </a:prstGeom>
        </p:spPr>
        <p:txBody>
          <a:bodyPr lIns="0" tIns="0" rIns="0" bIns="0" rtlCol="0" anchor="t">
            <a:spAutoFit/>
          </a:bodyPr>
          <a:lstStyle/>
          <a:p>
            <a:pPr algn="ctr">
              <a:lnSpc>
                <a:spcPts val="10487"/>
              </a:lnSpc>
            </a:pPr>
            <a:r>
              <a:rPr lang="en-US" sz="10701">
                <a:solidFill>
                  <a:srgbClr val="05F8DD"/>
                </a:solidFill>
                <a:latin typeface="Anton"/>
                <a:ea typeface="Anton"/>
                <a:cs typeface="Anton"/>
                <a:sym typeface="Anton"/>
              </a:rPr>
              <a:t>CONCLUSION</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4744459"/>
            <a:ext cx="16190789" cy="0"/>
          </a:xfrm>
          <a:prstGeom prst="line">
            <a:avLst/>
          </a:prstGeom>
          <a:ln w="38100" cap="flat">
            <a:solidFill>
              <a:srgbClr val="05F8DD"/>
            </a:solidFill>
            <a:prstDash val="solid"/>
            <a:headEnd type="none" w="sm" len="sm"/>
            <a:tailEnd type="none" w="sm" len="sm"/>
          </a:ln>
        </p:spPr>
      </p:sp>
      <p:sp>
        <p:nvSpPr>
          <p:cNvPr id="8" name="AutoShape 8"/>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9" name="AutoShape 9"/>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10" name="Group 10"/>
          <p:cNvGrpSpPr/>
          <p:nvPr/>
        </p:nvGrpSpPr>
        <p:grpSpPr>
          <a:xfrm>
            <a:off x="1028700" y="1039566"/>
            <a:ext cx="654281" cy="654281"/>
            <a:chOff x="0" y="0"/>
            <a:chExt cx="647700" cy="647700"/>
          </a:xfrm>
        </p:grpSpPr>
        <p:sp>
          <p:nvSpPr>
            <p:cNvPr id="11" name="Freeform 11"/>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2" name="TextBox 12"/>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701862" y="8612203"/>
            <a:ext cx="654281" cy="654281"/>
            <a:chOff x="0" y="0"/>
            <a:chExt cx="647700" cy="647700"/>
          </a:xfrm>
        </p:grpSpPr>
        <p:sp>
          <p:nvSpPr>
            <p:cNvPr id="14" name="Freeform 14"/>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5" name="TextBox 15"/>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207744" y="5241764"/>
            <a:ext cx="13157918" cy="3212059"/>
          </a:xfrm>
          <a:prstGeom prst="rect">
            <a:avLst/>
          </a:prstGeom>
        </p:spPr>
        <p:txBody>
          <a:bodyPr lIns="0" tIns="0" rIns="0" bIns="0" rtlCol="0" anchor="t">
            <a:spAutoFit/>
          </a:bodyPr>
          <a:lstStyle/>
          <a:p>
            <a:pPr algn="just">
              <a:lnSpc>
                <a:spcPts val="4281"/>
              </a:lnSpc>
              <a:spcBef>
                <a:spcPct val="0"/>
              </a:spcBef>
            </a:pPr>
            <a:r>
              <a:rPr lang="en-US" sz="3057">
                <a:solidFill>
                  <a:srgbClr val="05F8DD"/>
                </a:solidFill>
                <a:latin typeface="Poppins Light"/>
                <a:ea typeface="Poppins Light"/>
                <a:cs typeface="Poppins Light"/>
                <a:sym typeface="Poppins Light"/>
              </a:rPr>
              <a:t>The Personal Portfolio Website represents my first major step toward becoming a Full Stack Developer. Through this project, I gained practical experience in HTML development, website structuring, and content organization. It serves as a foundation for future web development projects and motivates me to continue learning modern technologies.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3716461" y="2553586"/>
            <a:ext cx="10855077" cy="5124019"/>
          </a:xfrm>
          <a:prstGeom prst="rect">
            <a:avLst/>
          </a:prstGeom>
        </p:spPr>
        <p:txBody>
          <a:bodyPr lIns="0" tIns="0" rIns="0" bIns="0" rtlCol="0" anchor="t">
            <a:spAutoFit/>
          </a:bodyPr>
          <a:lstStyle/>
          <a:p>
            <a:pPr algn="ctr">
              <a:lnSpc>
                <a:spcPts val="19688"/>
              </a:lnSpc>
            </a:pPr>
            <a:r>
              <a:rPr lang="en-US" sz="20090">
                <a:solidFill>
                  <a:srgbClr val="05F8DD"/>
                </a:solidFill>
                <a:latin typeface="Anton"/>
                <a:ea typeface="Anton"/>
                <a:cs typeface="Anton"/>
                <a:sym typeface="Anton"/>
              </a:rPr>
              <a:t>WEBSITE DEVELOPER</a:t>
            </a:r>
          </a:p>
        </p:txBody>
      </p:sp>
      <p:sp>
        <p:nvSpPr>
          <p:cNvPr id="3" name="Freeform 3"/>
          <p:cNvSpPr/>
          <p:nvPr/>
        </p:nvSpPr>
        <p:spPr>
          <a:xfrm>
            <a:off x="8212143" y="7919822"/>
            <a:ext cx="9144000" cy="1346662"/>
          </a:xfrm>
          <a:custGeom>
            <a:avLst/>
            <a:gdLst/>
            <a:ahLst/>
            <a:cxnLst/>
            <a:rect l="l" t="t" r="r" b="b"/>
            <a:pathLst>
              <a:path w="9144000" h="1346662">
                <a:moveTo>
                  <a:pt x="0" y="0"/>
                </a:moveTo>
                <a:lnTo>
                  <a:pt x="9144000" y="0"/>
                </a:lnTo>
                <a:lnTo>
                  <a:pt x="9144000" y="1346662"/>
                </a:lnTo>
                <a:lnTo>
                  <a:pt x="0" y="1346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933450" y="1020516"/>
            <a:ext cx="9144000" cy="1346662"/>
          </a:xfrm>
          <a:custGeom>
            <a:avLst/>
            <a:gdLst/>
            <a:ahLst/>
            <a:cxnLst/>
            <a:rect l="l" t="t" r="r" b="b"/>
            <a:pathLst>
              <a:path w="9144000" h="1346662">
                <a:moveTo>
                  <a:pt x="9144000" y="1346662"/>
                </a:moveTo>
                <a:lnTo>
                  <a:pt x="0" y="1346662"/>
                </a:lnTo>
                <a:lnTo>
                  <a:pt x="0" y="0"/>
                </a:lnTo>
                <a:lnTo>
                  <a:pt x="9144000" y="0"/>
                </a:lnTo>
                <a:lnTo>
                  <a:pt x="9144000" y="1346662"/>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flipV="1">
            <a:off x="9870146" y="1039566"/>
            <a:ext cx="7389154" cy="0"/>
          </a:xfrm>
          <a:prstGeom prst="line">
            <a:avLst/>
          </a:prstGeom>
          <a:ln w="38100" cap="flat">
            <a:solidFill>
              <a:srgbClr val="05F8DD"/>
            </a:solidFill>
            <a:prstDash val="solid"/>
            <a:headEnd type="none" w="sm" len="sm"/>
            <a:tailEnd type="none" w="sm" len="sm"/>
          </a:ln>
        </p:spPr>
      </p:sp>
      <p:sp>
        <p:nvSpPr>
          <p:cNvPr id="6" name="AutoShape 6"/>
          <p:cNvSpPr/>
          <p:nvPr/>
        </p:nvSpPr>
        <p:spPr>
          <a:xfrm flipH="1">
            <a:off x="17240250" y="1028700"/>
            <a:ext cx="0" cy="6899306"/>
          </a:xfrm>
          <a:prstGeom prst="line">
            <a:avLst/>
          </a:prstGeom>
          <a:ln w="38100" cap="flat">
            <a:solidFill>
              <a:srgbClr val="05F8DD"/>
            </a:solidFill>
            <a:prstDash val="solid"/>
            <a:headEnd type="none" w="sm" len="sm"/>
            <a:tailEnd type="none" w="sm" len="sm"/>
          </a:ln>
        </p:spPr>
      </p:sp>
      <p:sp>
        <p:nvSpPr>
          <p:cNvPr id="7" name="AutoShape 7"/>
          <p:cNvSpPr/>
          <p:nvPr/>
        </p:nvSpPr>
        <p:spPr>
          <a:xfrm flipH="1">
            <a:off x="1049461" y="2358994"/>
            <a:ext cx="0" cy="6899306"/>
          </a:xfrm>
          <a:prstGeom prst="line">
            <a:avLst/>
          </a:prstGeom>
          <a:ln w="38100" cap="flat">
            <a:solidFill>
              <a:srgbClr val="05F8DD"/>
            </a:solidFill>
            <a:prstDash val="solid"/>
            <a:headEnd type="none" w="sm" len="sm"/>
            <a:tailEnd type="none" w="sm" len="sm"/>
          </a:ln>
        </p:spPr>
      </p:sp>
      <p:sp>
        <p:nvSpPr>
          <p:cNvPr id="8" name="AutoShape 8"/>
          <p:cNvSpPr/>
          <p:nvPr/>
        </p:nvSpPr>
        <p:spPr>
          <a:xfrm>
            <a:off x="1028700" y="9247434"/>
            <a:ext cx="7389154" cy="0"/>
          </a:xfrm>
          <a:prstGeom prst="line">
            <a:avLst/>
          </a:prstGeom>
          <a:ln w="38100" cap="flat">
            <a:solidFill>
              <a:srgbClr val="05F8DD"/>
            </a:solidFill>
            <a:prstDash val="solid"/>
            <a:headEnd type="none" w="sm" len="sm"/>
            <a:tailEnd type="none" w="sm" len="sm"/>
          </a:ln>
        </p:spPr>
      </p:sp>
      <p:grpSp>
        <p:nvGrpSpPr>
          <p:cNvPr id="9" name="Group 9"/>
          <p:cNvGrpSpPr/>
          <p:nvPr/>
        </p:nvGrpSpPr>
        <p:grpSpPr>
          <a:xfrm>
            <a:off x="1028700" y="1039566"/>
            <a:ext cx="654281" cy="654281"/>
            <a:chOff x="0" y="0"/>
            <a:chExt cx="647700" cy="647700"/>
          </a:xfrm>
        </p:grpSpPr>
        <p:sp>
          <p:nvSpPr>
            <p:cNvPr id="10" name="Freeform 10"/>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1" name="TextBox 11"/>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01862" y="8612203"/>
            <a:ext cx="654281" cy="654281"/>
            <a:chOff x="0" y="0"/>
            <a:chExt cx="647700" cy="647700"/>
          </a:xfrm>
        </p:grpSpPr>
        <p:sp>
          <p:nvSpPr>
            <p:cNvPr id="13" name="Freeform 13"/>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05F8DD"/>
            </a:solidFill>
          </p:spPr>
        </p:sp>
        <p:sp>
          <p:nvSpPr>
            <p:cNvPr id="14" name="TextBox 14"/>
            <p:cNvSpPr txBox="1"/>
            <p:nvPr/>
          </p:nvSpPr>
          <p:spPr>
            <a:xfrm>
              <a:off x="152400" y="95250"/>
              <a:ext cx="342900" cy="4000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4241201" y="7452523"/>
            <a:ext cx="6405314" cy="673331"/>
            <a:chOff x="0" y="0"/>
            <a:chExt cx="1686996" cy="177338"/>
          </a:xfrm>
        </p:grpSpPr>
        <p:sp>
          <p:nvSpPr>
            <p:cNvPr id="16" name="Freeform 16"/>
            <p:cNvSpPr/>
            <p:nvPr/>
          </p:nvSpPr>
          <p:spPr>
            <a:xfrm>
              <a:off x="0" y="0"/>
              <a:ext cx="1686996" cy="177338"/>
            </a:xfrm>
            <a:custGeom>
              <a:avLst/>
              <a:gdLst/>
              <a:ahLst/>
              <a:cxnLst/>
              <a:rect l="l" t="t" r="r" b="b"/>
              <a:pathLst>
                <a:path w="1686996" h="177338">
                  <a:moveTo>
                    <a:pt x="88669" y="0"/>
                  </a:moveTo>
                  <a:lnTo>
                    <a:pt x="1598327" y="0"/>
                  </a:lnTo>
                  <a:cubicBezTo>
                    <a:pt x="1621844" y="0"/>
                    <a:pt x="1644397" y="9342"/>
                    <a:pt x="1661026" y="25971"/>
                  </a:cubicBezTo>
                  <a:cubicBezTo>
                    <a:pt x="1677654" y="42599"/>
                    <a:pt x="1686996" y="65153"/>
                    <a:pt x="1686996" y="88669"/>
                  </a:cubicBezTo>
                  <a:lnTo>
                    <a:pt x="1686996" y="88669"/>
                  </a:lnTo>
                  <a:cubicBezTo>
                    <a:pt x="1686996" y="137640"/>
                    <a:pt x="1647298" y="177338"/>
                    <a:pt x="1598327"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17" name="TextBox 17"/>
            <p:cNvSpPr txBox="1"/>
            <p:nvPr/>
          </p:nvSpPr>
          <p:spPr>
            <a:xfrm>
              <a:off x="0" y="-57150"/>
              <a:ext cx="1686996" cy="234488"/>
            </a:xfrm>
            <a:prstGeom prst="rect">
              <a:avLst/>
            </a:prstGeom>
          </p:spPr>
          <p:txBody>
            <a:bodyPr lIns="50800" tIns="50800" rIns="50800" bIns="50800" rtlCol="0" anchor="ctr"/>
            <a:lstStyle/>
            <a:p>
              <a:pPr algn="ctr">
                <a:lnSpc>
                  <a:spcPts val="3079"/>
                </a:lnSpc>
              </a:pPr>
              <a:r>
                <a:rPr lang="en-US" sz="2199">
                  <a:solidFill>
                    <a:srgbClr val="05F8DD"/>
                  </a:solidFill>
                  <a:latin typeface="Poppins"/>
                  <a:ea typeface="Poppins"/>
                  <a:cs typeface="Poppins"/>
                  <a:sym typeface="Poppins"/>
                </a:rPr>
                <a:t>Building the Web That Connects the World</a:t>
              </a:r>
            </a:p>
          </p:txBody>
        </p:sp>
      </p:grpSp>
      <p:grpSp>
        <p:nvGrpSpPr>
          <p:cNvPr id="18" name="Group 18"/>
          <p:cNvGrpSpPr/>
          <p:nvPr/>
        </p:nvGrpSpPr>
        <p:grpSpPr>
          <a:xfrm>
            <a:off x="10958557" y="7488708"/>
            <a:ext cx="2881090" cy="673331"/>
            <a:chOff x="0" y="0"/>
            <a:chExt cx="758806" cy="177338"/>
          </a:xfrm>
        </p:grpSpPr>
        <p:sp>
          <p:nvSpPr>
            <p:cNvPr id="19" name="Freeform 19"/>
            <p:cNvSpPr/>
            <p:nvPr/>
          </p:nvSpPr>
          <p:spPr>
            <a:xfrm>
              <a:off x="0" y="0"/>
              <a:ext cx="758806" cy="177338"/>
            </a:xfrm>
            <a:custGeom>
              <a:avLst/>
              <a:gdLst/>
              <a:ahLst/>
              <a:cxnLst/>
              <a:rect l="l" t="t" r="r" b="b"/>
              <a:pathLst>
                <a:path w="758806" h="177338">
                  <a:moveTo>
                    <a:pt x="88669" y="0"/>
                  </a:moveTo>
                  <a:lnTo>
                    <a:pt x="670136" y="0"/>
                  </a:lnTo>
                  <a:cubicBezTo>
                    <a:pt x="719107" y="0"/>
                    <a:pt x="758806" y="39699"/>
                    <a:pt x="758806" y="88669"/>
                  </a:cubicBezTo>
                  <a:lnTo>
                    <a:pt x="758806" y="88669"/>
                  </a:lnTo>
                  <a:cubicBezTo>
                    <a:pt x="758806" y="112186"/>
                    <a:pt x="749464" y="134739"/>
                    <a:pt x="732835" y="151368"/>
                  </a:cubicBezTo>
                  <a:cubicBezTo>
                    <a:pt x="716206" y="167996"/>
                    <a:pt x="693653" y="177338"/>
                    <a:pt x="670136" y="177338"/>
                  </a:cubicBezTo>
                  <a:lnTo>
                    <a:pt x="88669" y="177338"/>
                  </a:lnTo>
                  <a:cubicBezTo>
                    <a:pt x="39699" y="177338"/>
                    <a:pt x="0" y="137640"/>
                    <a:pt x="0" y="88669"/>
                  </a:cubicBezTo>
                  <a:lnTo>
                    <a:pt x="0" y="88669"/>
                  </a:lnTo>
                  <a:cubicBezTo>
                    <a:pt x="0" y="39699"/>
                    <a:pt x="39699" y="0"/>
                    <a:pt x="88669" y="0"/>
                  </a:cubicBezTo>
                  <a:close/>
                </a:path>
              </a:pathLst>
            </a:custGeom>
            <a:ln w="19050" cap="rnd">
              <a:solidFill>
                <a:srgbClr val="05F8DD"/>
              </a:solidFill>
              <a:prstDash val="solid"/>
              <a:round/>
            </a:ln>
          </p:spPr>
        </p:sp>
        <p:sp>
          <p:nvSpPr>
            <p:cNvPr id="20" name="TextBox 20"/>
            <p:cNvSpPr txBox="1"/>
            <p:nvPr/>
          </p:nvSpPr>
          <p:spPr>
            <a:xfrm>
              <a:off x="0" y="-57150"/>
              <a:ext cx="758806" cy="234488"/>
            </a:xfrm>
            <a:prstGeom prst="rect">
              <a:avLst/>
            </a:prstGeom>
          </p:spPr>
          <p:txBody>
            <a:bodyPr lIns="50800" tIns="50800" rIns="50800" bIns="50800" rtlCol="0" anchor="ctr"/>
            <a:lstStyle/>
            <a:p>
              <a:pPr algn="ctr">
                <a:lnSpc>
                  <a:spcPts val="3079"/>
                </a:lnSpc>
              </a:pPr>
              <a:r>
                <a:rPr lang="en-US" sz="2199">
                  <a:solidFill>
                    <a:srgbClr val="05F8DD"/>
                  </a:solidFill>
                  <a:latin typeface="Poppins"/>
                  <a:ea typeface="Poppins"/>
                  <a:cs typeface="Poppins"/>
                  <a:sym typeface="Poppins"/>
                </a:rPr>
                <a:t>@reallygreatsite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459</Words>
  <Application>Microsoft Office PowerPoint</Application>
  <PresentationFormat>Custom</PresentationFormat>
  <Paragraphs>63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Poppins</vt:lpstr>
      <vt:lpstr>Poppins Medium</vt:lpstr>
      <vt:lpstr>Arial</vt:lpstr>
      <vt:lpstr>Poppins Light</vt:lpstr>
      <vt:lpstr>Calibri</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Services</dc:title>
  <cp:lastModifiedBy>NITHISH KURAKULA</cp:lastModifiedBy>
  <cp:revision>1</cp:revision>
  <dcterms:created xsi:type="dcterms:W3CDTF">2006-08-16T00:00:00Z</dcterms:created>
  <dcterms:modified xsi:type="dcterms:W3CDTF">2026-06-19T20:51:04Z</dcterms:modified>
  <dc:identifier>DAHNCbn425Q</dc:identifier>
</cp:coreProperties>
</file>